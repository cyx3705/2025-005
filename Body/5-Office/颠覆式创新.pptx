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media/image21.jp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8"/>
  </p:notesMasterIdLst>
  <p:sldIdLst>
    <p:sldId id="321" r:id="rId2"/>
    <p:sldId id="320" r:id="rId3"/>
    <p:sldId id="256" r:id="rId4"/>
    <p:sldId id="257" r:id="rId5"/>
    <p:sldId id="266" r:id="rId6"/>
    <p:sldId id="258" r:id="rId7"/>
    <p:sldId id="259" r:id="rId8"/>
    <p:sldId id="261" r:id="rId9"/>
    <p:sldId id="262" r:id="rId10"/>
    <p:sldId id="282" r:id="rId11"/>
    <p:sldId id="283" r:id="rId12"/>
    <p:sldId id="270" r:id="rId13"/>
    <p:sldId id="264" r:id="rId14"/>
    <p:sldId id="267" r:id="rId15"/>
    <p:sldId id="284" r:id="rId16"/>
    <p:sldId id="285" r:id="rId17"/>
    <p:sldId id="286" r:id="rId18"/>
    <p:sldId id="268" r:id="rId19"/>
    <p:sldId id="287" r:id="rId20"/>
    <p:sldId id="265" r:id="rId21"/>
    <p:sldId id="290" r:id="rId22"/>
    <p:sldId id="313" r:id="rId23"/>
    <p:sldId id="314" r:id="rId24"/>
    <p:sldId id="315" r:id="rId25"/>
    <p:sldId id="316" r:id="rId26"/>
    <p:sldId id="312" r:id="rId27"/>
    <p:sldId id="317" r:id="rId28"/>
    <p:sldId id="297" r:id="rId29"/>
    <p:sldId id="298" r:id="rId30"/>
    <p:sldId id="300" r:id="rId31"/>
    <p:sldId id="304" r:id="rId32"/>
    <p:sldId id="299" r:id="rId33"/>
    <p:sldId id="301" r:id="rId34"/>
    <p:sldId id="319" r:id="rId35"/>
    <p:sldId id="318" r:id="rId36"/>
    <p:sldId id="303" r:id="rId37"/>
  </p:sldIdLst>
  <p:sldSz cx="12192000" cy="6858000"/>
  <p:notesSz cx="6858000" cy="9144000"/>
  <p:embeddedFontLst>
    <p:embeddedFont>
      <p:font typeface="Azonix" panose="02010600030101010101" charset="0"/>
      <p:regular r:id="rId39"/>
    </p:embeddedFont>
    <p:embeddedFont>
      <p:font typeface="微软雅黑" panose="020B0503020204020204" pitchFamily="34" charset="-122"/>
      <p:regular r:id="rId40"/>
      <p:bold r:id="rId41"/>
    </p:embeddedFont>
    <p:embeddedFont>
      <p:font typeface="微软雅黑 Light" panose="020B0502040204020203" pitchFamily="34" charset="-122"/>
      <p:regular r:id="rId42"/>
    </p:embeddedFont>
  </p:embeddedFontLst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98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>
                <a:solidFill>
                  <a:schemeClr val="bg1"/>
                </a:solidFill>
              </a:rPr>
              <a:t>The world's mainstream rockets cost quotation chart per kilogram of low-orbit load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5.0221910653045999E-3"/>
          <c:y val="0.12990932433487001"/>
          <c:w val="0.97237794914082498"/>
          <c:h val="0.707402330592970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>
              <a:gsLst>
                <a:gs pos="100000">
                  <a:schemeClr val="bg1">
                    <a:lumMod val="65000"/>
                  </a:schemeClr>
                </a:gs>
                <a:gs pos="3000">
                  <a:schemeClr val="bg1"/>
                </a:gs>
              </a:gsLst>
              <a:lin ang="5400000" scaled="0"/>
            </a:gradFill>
            <a:ln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100000">
                    <a:schemeClr val="bg1">
                      <a:lumMod val="65000"/>
                    </a:schemeClr>
                  </a:gs>
                  <a:gs pos="3000">
                    <a:schemeClr val="bg1"/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FCC-4988-8F6F-0686A80F5820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100000">
                    <a:schemeClr val="bg1">
                      <a:lumMod val="65000"/>
                    </a:schemeClr>
                  </a:gs>
                  <a:gs pos="3000">
                    <a:schemeClr val="bg1"/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FCC-4988-8F6F-0686A80F5820}"/>
              </c:ext>
            </c:extLst>
          </c:dPt>
          <c:dPt>
            <c:idx val="2"/>
            <c:invertIfNegative val="0"/>
            <c:bubble3D val="0"/>
            <c:spPr>
              <a:gradFill>
                <a:gsLst>
                  <a:gs pos="100000">
                    <a:schemeClr val="bg1">
                      <a:lumMod val="65000"/>
                    </a:schemeClr>
                  </a:gs>
                  <a:gs pos="3000">
                    <a:schemeClr val="bg1"/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FCC-4988-8F6F-0686A80F5820}"/>
              </c:ext>
            </c:extLst>
          </c:dPt>
          <c:dPt>
            <c:idx val="3"/>
            <c:invertIfNegative val="0"/>
            <c:bubble3D val="0"/>
            <c:spPr>
              <a:gradFill>
                <a:gsLst>
                  <a:gs pos="100000">
                    <a:schemeClr val="bg1">
                      <a:lumMod val="65000"/>
                    </a:schemeClr>
                  </a:gs>
                  <a:gs pos="3000">
                    <a:schemeClr val="bg1"/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FCC-4988-8F6F-0686A80F582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3C77CEF-E41F-4561-8FCB-C6291984F099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FCC-4988-8F6F-0686A80F582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A56D1E9-0126-4BB1-80EA-D73F1705859B}" type="VALUE">
                      <a:rPr lang="en-US" altLang="zh-CN"/>
                      <a:pPr/>
                      <a:t>[值]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4FCC-4988-8F6F-0686A80F58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2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CZ-3B</c:v>
                </c:pt>
                <c:pt idx="1">
                  <c:v>Ariane-5</c:v>
                </c:pt>
                <c:pt idx="2">
                  <c:v>Soyuz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14000</c:v>
                </c:pt>
                <c:pt idx="1">
                  <c:v>10313</c:v>
                </c:pt>
                <c:pt idx="2">
                  <c:v>7246</c:v>
                </c:pt>
                <c:pt idx="3">
                  <c:v>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FCC-4988-8F6F-0686A80F58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98101200"/>
        <c:axId val="798097240"/>
      </c:barChart>
      <c:catAx>
        <c:axId val="798101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8097240"/>
        <c:crosses val="autoZero"/>
        <c:auto val="1"/>
        <c:lblAlgn val="ctr"/>
        <c:lblOffset val="100"/>
        <c:noMultiLvlLbl val="0"/>
      </c:catAx>
      <c:valAx>
        <c:axId val="79809724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98101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3600" dirty="0">
                <a:solidFill>
                  <a:schemeClr val="bg1"/>
                </a:solidFill>
              </a:rPr>
              <a:t>Rocket annual launch loads</a:t>
            </a:r>
          </a:p>
        </c:rich>
      </c:tx>
      <c:layout>
        <c:manualLayout>
          <c:xMode val="edge"/>
          <c:yMode val="edge"/>
          <c:x val="6.9127378608923901E-2"/>
          <c:y val="3.0315896645963802E-2"/>
        </c:manualLayout>
      </c:layout>
      <c:overlay val="0"/>
      <c:spPr>
        <a:noFill/>
        <a:ln>
          <a:noFill/>
        </a:ln>
        <a:effectLst/>
      </c:sp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>
        <c:manualLayout>
          <c:layoutTarget val="inner"/>
          <c:xMode val="edge"/>
          <c:yMode val="edge"/>
          <c:x val="1.32850241545894E-2"/>
          <c:y val="0.18663270929539399"/>
          <c:w val="0.97342995169082103"/>
          <c:h val="0.78126222325179095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25400">
              <a:noFill/>
            </a:ln>
          </c:spPr>
          <c:explosion val="8"/>
          <c:dPt>
            <c:idx val="0"/>
            <c:bubble3D val="0"/>
            <c:spPr>
              <a:gradFill>
                <a:gsLst>
                  <a:gs pos="100000">
                    <a:schemeClr val="tx2"/>
                  </a:gs>
                  <a:gs pos="34000">
                    <a:schemeClr val="tx1"/>
                  </a:gs>
                </a:gsLst>
                <a:lin ang="5400000" scaled="0"/>
              </a:gradFill>
              <a:ln w="25400">
                <a:noFill/>
              </a:ln>
              <a:effectLst/>
              <a:scene3d>
                <a:camera prst="orthographicFront"/>
                <a:lightRig rig="threePt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1-D159-4164-9048-A91EC47B938D}"/>
              </c:ext>
            </c:extLst>
          </c:dPt>
          <c:dPt>
            <c:idx val="1"/>
            <c:bubble3D val="0"/>
            <c:spPr>
              <a:gradFill>
                <a:gsLst>
                  <a:gs pos="100000">
                    <a:schemeClr val="accent1">
                      <a:lumMod val="20000"/>
                      <a:lumOff val="80000"/>
                    </a:schemeClr>
                  </a:gs>
                  <a:gs pos="34000">
                    <a:schemeClr val="bg2"/>
                  </a:gs>
                </a:gsLst>
                <a:lin ang="5400000" scaled="0"/>
              </a:gradFill>
              <a:ln w="25400">
                <a:noFill/>
              </a:ln>
              <a:effectLst/>
              <a:scene3d>
                <a:camera prst="orthographicFront"/>
                <a:lightRig rig="threePt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3-D159-4164-9048-A91EC47B938D}"/>
              </c:ext>
            </c:extLst>
          </c:dPt>
          <c:cat>
            <c:strRef>
              <c:f>Sheet1!$A$2:$A$3</c:f>
              <c:strCache>
                <c:ptCount val="2"/>
                <c:pt idx="0">
                  <c:v>falcon9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159-4164-9048-A91EC47B93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/>
              <a:t>comparison</a:t>
            </a:r>
            <a:endParaRPr lang="zh-CN" dirty="0"/>
          </a:p>
        </c:rich>
      </c:tx>
      <c:layout>
        <c:manualLayout>
          <c:xMode val="edge"/>
          <c:yMode val="edge"/>
          <c:x val="0.37377203053709324"/>
          <c:y val="1.10670800119385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1.2358411734179878E-2"/>
          <c:y val="0.24341759273581273"/>
          <c:w val="0.96115927740686324"/>
          <c:h val="0.697821005230720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Starship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Carrying capacity</c:v>
                </c:pt>
                <c:pt idx="1">
                  <c:v>Engine technology</c:v>
                </c:pt>
                <c:pt idx="2">
                  <c:v>height</c:v>
                </c:pt>
                <c:pt idx="3">
                  <c:v>diameter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</c:v>
                </c:pt>
                <c:pt idx="1">
                  <c:v>280</c:v>
                </c:pt>
                <c:pt idx="2">
                  <c:v>120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C-4CA8-96D6-E1935A044F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CZ-9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Carrying capacity</c:v>
                </c:pt>
                <c:pt idx="1">
                  <c:v>Engine technology</c:v>
                </c:pt>
                <c:pt idx="2">
                  <c:v>height</c:v>
                </c:pt>
                <c:pt idx="3">
                  <c:v>diameter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140</c:v>
                </c:pt>
                <c:pt idx="1">
                  <c:v>500</c:v>
                </c:pt>
                <c:pt idx="2">
                  <c:v>114</c:v>
                </c:pt>
                <c:pt idx="3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C-4CA8-96D6-E1935A044F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588558719"/>
        <c:axId val="588561119"/>
      </c:barChart>
      <c:catAx>
        <c:axId val="5885587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8561119"/>
        <c:crosses val="autoZero"/>
        <c:auto val="1"/>
        <c:lblAlgn val="ctr"/>
        <c:lblOffset val="100"/>
        <c:noMultiLvlLbl val="0"/>
      </c:catAx>
      <c:valAx>
        <c:axId val="58856111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88558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5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5FC4D532-5F88-F047-7810-9F862BEE72F6}"/>
              </a:ext>
            </a:extLst>
          </p:cNvPr>
          <p:cNvSpPr txBox="1">
            <a:spLocks/>
          </p:cNvSpPr>
          <p:nvPr/>
        </p:nvSpPr>
        <p:spPr>
          <a:xfrm>
            <a:off x="-852523" y="-1131372"/>
            <a:ext cx="13897046" cy="5463144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9000" dirty="0">
                <a:latin typeface="Azonix" pitchFamily="50" charset="0"/>
              </a:rPr>
              <a:t>Innovate</a:t>
            </a:r>
            <a:endParaRPr lang="zh-CN" altLang="en-US" sz="19000" dirty="0">
              <a:latin typeface="Azonix" pitchFamily="50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79D163-178F-904A-16DC-9F185ED0E4EC}"/>
              </a:ext>
            </a:extLst>
          </p:cNvPr>
          <p:cNvSpPr txBox="1"/>
          <p:nvPr/>
        </p:nvSpPr>
        <p:spPr>
          <a:xfrm>
            <a:off x="4599500" y="2898178"/>
            <a:ext cx="2993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+mj-ea"/>
                <a:ea typeface="+mj-ea"/>
              </a:rPr>
              <a:t>618</a:t>
            </a:r>
            <a:r>
              <a:rPr lang="zh-CN" altLang="en-US" sz="4400" dirty="0">
                <a:solidFill>
                  <a:schemeClr val="bg1"/>
                </a:solidFill>
                <a:latin typeface="+mj-ea"/>
                <a:ea typeface="+mj-ea"/>
              </a:rPr>
              <a:t>寝室组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33D7984-4955-4AC4-124E-DA1B24C61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52524" y="-2180246"/>
            <a:ext cx="13897046" cy="5463144"/>
          </a:xfrm>
        </p:spPr>
        <p:txBody>
          <a:bodyPr>
            <a:noAutofit/>
          </a:bodyPr>
          <a:lstStyle/>
          <a:p>
            <a:r>
              <a:rPr lang="en-US" altLang="zh-CN" sz="19000" b="0" i="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8000">
                      <a:schemeClr val="tx1"/>
                    </a:gs>
                  </a:gsLst>
                  <a:lin ang="5400000" scaled="1"/>
                </a:gradFill>
                <a:effectLst/>
                <a:latin typeface="Azonix" pitchFamily="50" charset="0"/>
              </a:rPr>
              <a:t>Innovate</a:t>
            </a:r>
            <a:endParaRPr lang="zh-CN" altLang="en-US" sz="1900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8000">
                    <a:schemeClr val="tx1"/>
                  </a:gs>
                </a:gsLst>
                <a:lin ang="5400000" scaled="1"/>
              </a:gradFill>
              <a:latin typeface="Azonix" pitchFamily="50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9AAED1-FBBB-E8C0-1B4C-E1F8D8B7B86D}"/>
              </a:ext>
            </a:extLst>
          </p:cNvPr>
          <p:cNvSpPr txBox="1"/>
          <p:nvPr/>
        </p:nvSpPr>
        <p:spPr>
          <a:xfrm>
            <a:off x="5309935" y="7210172"/>
            <a:ext cx="15721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2">
                    <a:lumMod val="75000"/>
                  </a:schemeClr>
                </a:solidFill>
              </a:rPr>
              <a:t>包高翔</a:t>
            </a:r>
            <a:endParaRPr lang="en-US" altLang="zh-CN" sz="36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3600" dirty="0">
                <a:solidFill>
                  <a:schemeClr val="bg2">
                    <a:lumMod val="75000"/>
                  </a:schemeClr>
                </a:solidFill>
              </a:rPr>
              <a:t>陈煜暄</a:t>
            </a:r>
            <a:endParaRPr lang="en-US" altLang="zh-CN" sz="36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3600" dirty="0">
                <a:solidFill>
                  <a:schemeClr val="bg2">
                    <a:lumMod val="75000"/>
                  </a:schemeClr>
                </a:solidFill>
              </a:rPr>
              <a:t>金家俊</a:t>
            </a:r>
            <a:endParaRPr lang="en-US" altLang="zh-CN" sz="36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3600" dirty="0">
                <a:solidFill>
                  <a:schemeClr val="bg2">
                    <a:lumMod val="75000"/>
                  </a:schemeClr>
                </a:solidFill>
              </a:rPr>
              <a:t>娄必辉</a:t>
            </a:r>
            <a:endParaRPr lang="en-US" altLang="zh-CN" sz="36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D8ECA5-029D-F594-CD17-773CC9F0C4B7}"/>
              </a:ext>
            </a:extLst>
          </p:cNvPr>
          <p:cNvSpPr txBox="1"/>
          <p:nvPr/>
        </p:nvSpPr>
        <p:spPr>
          <a:xfrm>
            <a:off x="12431112" y="6551295"/>
            <a:ext cx="12268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作业：</a:t>
            </a:r>
            <a:r>
              <a:rPr lang="en-US" altLang="zh-CN" sz="14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618</a:t>
            </a:r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组</a:t>
            </a:r>
          </a:p>
        </p:txBody>
      </p:sp>
    </p:spTree>
    <p:extLst>
      <p:ext uri="{BB962C8B-B14F-4D97-AF65-F5344CB8AC3E}">
        <p14:creationId xmlns:p14="http://schemas.microsoft.com/office/powerpoint/2010/main" val="196155095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31035E57-0220-EE33-5816-4E10195DF8F2}"/>
              </a:ext>
            </a:extLst>
          </p:cNvPr>
          <p:cNvSpPr txBox="1">
            <a:spLocks/>
          </p:cNvSpPr>
          <p:nvPr/>
        </p:nvSpPr>
        <p:spPr>
          <a:xfrm>
            <a:off x="-852524" y="-2180246"/>
            <a:ext cx="13897046" cy="4490309"/>
          </a:xfrm>
          <a:prstGeom prst="rect">
            <a:avLst/>
          </a:prstGeom>
          <a:gradFill>
            <a:gsLst>
              <a:gs pos="24000">
                <a:schemeClr val="tx1"/>
              </a:gs>
              <a:gs pos="49000">
                <a:schemeClr val="bg2">
                  <a:lumMod val="75000"/>
                </a:schemeClr>
              </a:gs>
              <a:gs pos="87000">
                <a:schemeClr val="tx1"/>
              </a:gs>
            </a:gsLst>
            <a:lin ang="5400000" scaled="1"/>
          </a:gra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9000" dirty="0">
                <a:latin typeface="Azonix" pitchFamily="50" charset="0"/>
              </a:rPr>
              <a:t>Innovate</a:t>
            </a:r>
            <a:endParaRPr lang="zh-CN" altLang="en-US" sz="19000" dirty="0">
              <a:latin typeface="Azonix" pitchFamily="50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32F312F-A435-753E-7E86-C711A493D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52524" y="-2180246"/>
            <a:ext cx="13897046" cy="5463144"/>
          </a:xfrm>
        </p:spPr>
        <p:txBody>
          <a:bodyPr>
            <a:noAutofit/>
          </a:bodyPr>
          <a:lstStyle/>
          <a:p>
            <a:r>
              <a:rPr lang="en-US" altLang="zh-CN" sz="19000" b="0" i="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8000">
                      <a:schemeClr val="tx1"/>
                    </a:gs>
                  </a:gsLst>
                  <a:lin ang="5400000" scaled="1"/>
                </a:gradFill>
                <a:effectLst/>
                <a:latin typeface="Azonix" pitchFamily="50" charset="0"/>
              </a:rPr>
              <a:t>Innovate</a:t>
            </a:r>
            <a:endParaRPr lang="zh-CN" altLang="en-US" sz="1900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8000">
                    <a:schemeClr val="tx1"/>
                  </a:gs>
                </a:gsLst>
                <a:lin ang="5400000" scaled="1"/>
              </a:gradFill>
              <a:latin typeface="Azonix" pitchFamily="50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29D80A-04A5-1528-6307-C07E20E57D7D}"/>
              </a:ext>
            </a:extLst>
          </p:cNvPr>
          <p:cNvSpPr txBox="1"/>
          <p:nvPr/>
        </p:nvSpPr>
        <p:spPr>
          <a:xfrm>
            <a:off x="10965180" y="6551295"/>
            <a:ext cx="12268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作业：</a:t>
            </a:r>
            <a:r>
              <a:rPr lang="en-US" altLang="zh-CN" sz="14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618</a:t>
            </a:r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A89ED8-0BB7-A023-DB20-E19E270C6910}"/>
              </a:ext>
            </a:extLst>
          </p:cNvPr>
          <p:cNvSpPr txBox="1"/>
          <p:nvPr/>
        </p:nvSpPr>
        <p:spPr>
          <a:xfrm>
            <a:off x="4599500" y="2898178"/>
            <a:ext cx="2993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</a:rPr>
              <a:t>618</a:t>
            </a:r>
            <a:r>
              <a:rPr lang="zh-CN" altLang="en-US" sz="4400" dirty="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</a:rPr>
              <a:t>寝室组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CDB63B-83C0-C3FA-364F-B450D473A3BB}"/>
              </a:ext>
            </a:extLst>
          </p:cNvPr>
          <p:cNvSpPr txBox="1"/>
          <p:nvPr/>
        </p:nvSpPr>
        <p:spPr>
          <a:xfrm>
            <a:off x="5309936" y="3835678"/>
            <a:ext cx="15721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2">
                    <a:lumMod val="75000"/>
                  </a:schemeClr>
                </a:solidFill>
              </a:rPr>
              <a:t>包高翔</a:t>
            </a:r>
            <a:endParaRPr lang="en-US" altLang="zh-CN" sz="36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3600" dirty="0">
                <a:solidFill>
                  <a:schemeClr val="bg2">
                    <a:lumMod val="75000"/>
                  </a:schemeClr>
                </a:solidFill>
              </a:rPr>
              <a:t>陈煜暄</a:t>
            </a:r>
            <a:endParaRPr lang="en-US" altLang="zh-CN" sz="36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3600" dirty="0">
                <a:solidFill>
                  <a:schemeClr val="bg2">
                    <a:lumMod val="75000"/>
                  </a:schemeClr>
                </a:solidFill>
              </a:rPr>
              <a:t>金家俊</a:t>
            </a:r>
            <a:endParaRPr lang="en-US" altLang="zh-CN" sz="36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3600" dirty="0">
                <a:solidFill>
                  <a:schemeClr val="bg2">
                    <a:lumMod val="75000"/>
                  </a:schemeClr>
                </a:solidFill>
              </a:rPr>
              <a:t>娄必辉</a:t>
            </a:r>
            <a:endParaRPr lang="en-US" altLang="zh-CN" sz="36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600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>
            <a:extLst>
              <a:ext uri="{FF2B5EF4-FFF2-40B4-BE49-F238E27FC236}">
                <a16:creationId xmlns:a16="http://schemas.microsoft.com/office/drawing/2014/main" id="{47D665CF-FCEA-ECEE-B2FF-B541301CB453}"/>
              </a:ext>
            </a:extLst>
          </p:cNvPr>
          <p:cNvSpPr/>
          <p:nvPr/>
        </p:nvSpPr>
        <p:spPr>
          <a:xfrm>
            <a:off x="4656000" y="-4693954"/>
            <a:ext cx="2880000" cy="4320000"/>
          </a:xfrm>
          <a:prstGeom prst="roundRect">
            <a:avLst>
              <a:gd name="adj" fmla="val 0"/>
            </a:avLst>
          </a:prstGeom>
          <a:blipFill rotWithShape="1">
            <a:blip r:embed="rId2"/>
            <a:stretch>
              <a:fillRect t="-1000"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830" y="1714500"/>
            <a:ext cx="8426450" cy="2463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24735" y="3357880"/>
            <a:ext cx="7542530" cy="553085"/>
          </a:xfrm>
        </p:spPr>
        <p:txBody>
          <a:bodyPr/>
          <a:lstStyle/>
          <a:p>
            <a:r>
              <a:rPr lang="en-US" altLang="zh-CN" sz="3200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</a:rPr>
              <a:t>Past present and future</a:t>
            </a:r>
          </a:p>
        </p:txBody>
      </p:sp>
      <p:sp>
        <p:nvSpPr>
          <p:cNvPr id="3" name="圆角矩形 4">
            <a:extLst>
              <a:ext uri="{FF2B5EF4-FFF2-40B4-BE49-F238E27FC236}">
                <a16:creationId xmlns:a16="http://schemas.microsoft.com/office/drawing/2014/main" id="{2B5275D6-EAD5-4F05-2599-09E9CAED67B8}"/>
              </a:ext>
            </a:extLst>
          </p:cNvPr>
          <p:cNvSpPr/>
          <p:nvPr/>
        </p:nvSpPr>
        <p:spPr>
          <a:xfrm>
            <a:off x="-3114064" y="1197880"/>
            <a:ext cx="2880000" cy="4320000"/>
          </a:xfrm>
          <a:prstGeom prst="roundRect">
            <a:avLst>
              <a:gd name="adj" fmla="val 0"/>
            </a:avLst>
          </a:prstGeom>
          <a:blipFill rotWithShape="1">
            <a:blip r:embed="rId4"/>
            <a:stretch>
              <a:fillRect t="-1000"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6A889AAF-EF70-0DA8-ECC3-223897BAEEAF}"/>
              </a:ext>
            </a:extLst>
          </p:cNvPr>
          <p:cNvSpPr/>
          <p:nvPr/>
        </p:nvSpPr>
        <p:spPr>
          <a:xfrm>
            <a:off x="12544174" y="1269000"/>
            <a:ext cx="2880000" cy="4320000"/>
          </a:xfrm>
          <a:prstGeom prst="roundRect">
            <a:avLst>
              <a:gd name="adj" fmla="val 0"/>
            </a:avLst>
          </a:prstGeom>
          <a:blipFill rotWithShape="1">
            <a:blip r:embed="rId5"/>
            <a:stretch>
              <a:fillRect t="-1000"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1477F39D-1EBB-7C42-C770-B51766656DDD}"/>
              </a:ext>
            </a:extLst>
          </p:cNvPr>
          <p:cNvSpPr txBox="1">
            <a:spLocks/>
          </p:cNvSpPr>
          <p:nvPr/>
        </p:nvSpPr>
        <p:spPr>
          <a:xfrm>
            <a:off x="1510665" y="7093986"/>
            <a:ext cx="1297940" cy="513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Past</a:t>
            </a:r>
            <a:endParaRPr lang="zh-CN" altLang="en-US" b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023E1DB-EB07-E940-A8A5-0D065D5ED220}"/>
              </a:ext>
            </a:extLst>
          </p:cNvPr>
          <p:cNvSpPr txBox="1">
            <a:spLocks/>
          </p:cNvSpPr>
          <p:nvPr/>
        </p:nvSpPr>
        <p:spPr>
          <a:xfrm>
            <a:off x="5447030" y="7093986"/>
            <a:ext cx="1297940" cy="513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Past</a:t>
            </a:r>
            <a:endParaRPr lang="zh-CN" altLang="en-US" b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331170-B4D5-712F-3F98-137B41E8EC2D}"/>
              </a:ext>
            </a:extLst>
          </p:cNvPr>
          <p:cNvSpPr txBox="1"/>
          <p:nvPr/>
        </p:nvSpPr>
        <p:spPr>
          <a:xfrm>
            <a:off x="9304655" y="7024136"/>
            <a:ext cx="21272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future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4680000" y="1466215"/>
            <a:ext cx="2880000" cy="4320000"/>
          </a:xfrm>
          <a:prstGeom prst="roundRect">
            <a:avLst>
              <a:gd name="adj" fmla="val 0"/>
            </a:avLst>
          </a:prstGeom>
          <a:blipFill rotWithShape="1">
            <a:blip r:embed="rId2"/>
            <a:stretch>
              <a:fillRect t="-1000"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10665" y="6019165"/>
            <a:ext cx="1297940" cy="51371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Past</a:t>
            </a:r>
            <a:endParaRPr lang="zh-CN" altLang="en-US" b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20000" y="1511935"/>
            <a:ext cx="2880000" cy="4320000"/>
          </a:xfrm>
          <a:prstGeom prst="roundRect">
            <a:avLst>
              <a:gd name="adj" fmla="val 0"/>
            </a:avLst>
          </a:prstGeom>
          <a:blipFill rotWithShape="1">
            <a:blip r:embed="rId3"/>
            <a:stretch>
              <a:fillRect t="-1000"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8640000" y="1511935"/>
            <a:ext cx="2880000" cy="4320000"/>
          </a:xfrm>
          <a:prstGeom prst="roundRect">
            <a:avLst>
              <a:gd name="adj" fmla="val 0"/>
            </a:avLst>
          </a:prstGeom>
          <a:blipFill rotWithShape="1">
            <a:blip r:embed="rId4"/>
            <a:stretch>
              <a:fillRect t="-1000"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876800" y="5949315"/>
            <a:ext cx="24866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present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016365" y="6019165"/>
            <a:ext cx="21272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future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Azonix" charset="0"/>
                <a:cs typeface="Azonix" charset="0"/>
              </a:rPr>
              <a:t>Table of Contents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5" y="0"/>
            <a:ext cx="12191365" cy="167386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5184140"/>
            <a:ext cx="12191365" cy="1673860"/>
          </a:xfrm>
          <a:prstGeom prst="rect">
            <a:avLst/>
          </a:prstGeom>
          <a:gradFill>
            <a:gsLst>
              <a:gs pos="100000">
                <a:schemeClr val="tx1"/>
              </a:gs>
              <a:gs pos="3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416742" y="5078095"/>
            <a:ext cx="3357880" cy="942975"/>
          </a:xfrm>
          <a:effectLst>
            <a:glow rad="139700">
              <a:schemeClr val="tx1">
                <a:alpha val="40000"/>
              </a:schemeClr>
            </a:glow>
          </a:effectLst>
        </p:spPr>
        <p:txBody>
          <a:bodyPr>
            <a:noAutofit/>
          </a:bodyPr>
          <a:lstStyle/>
          <a:p>
            <a:r>
              <a:rPr lang="en-US" altLang="zh-CN" sz="8800" dirty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past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Past 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Falcon 1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-7620" y="5443855"/>
            <a:ext cx="12276000" cy="0"/>
          </a:xfrm>
          <a:prstGeom prst="lin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838200" y="4693285"/>
            <a:ext cx="114935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chemeClr val="bg1"/>
                </a:solidFill>
                <a:latin typeface="+mj-ea"/>
                <a:ea typeface="+mj-ea"/>
              </a:rPr>
              <a:t>2006.3.24</a:t>
            </a:r>
            <a:endParaRPr lang="zh-CN" altLang="en-US" sz="1600" b="0" i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 flipV="1">
            <a:off x="1363345" y="5083765"/>
            <a:ext cx="0" cy="360000"/>
          </a:xfrm>
          <a:prstGeom prst="lin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 flipV="1">
            <a:off x="3728085" y="5083765"/>
            <a:ext cx="0" cy="360000"/>
          </a:xfrm>
          <a:prstGeom prst="lin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6708775" y="5083765"/>
            <a:ext cx="0" cy="360000"/>
          </a:xfrm>
          <a:prstGeom prst="lin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 flipV="1">
            <a:off x="8486775" y="5083765"/>
            <a:ext cx="0" cy="360000"/>
          </a:xfrm>
          <a:prstGeom prst="lin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153410" y="4693285"/>
            <a:ext cx="114935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chemeClr val="bg1"/>
                </a:solidFill>
                <a:latin typeface="+mj-ea"/>
                <a:ea typeface="+mj-ea"/>
              </a:rPr>
              <a:t>2007.3.21</a:t>
            </a:r>
            <a:endParaRPr lang="zh-CN" altLang="en-US" sz="1600" b="0" i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34100" y="4693285"/>
            <a:ext cx="114935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chemeClr val="bg1"/>
                </a:solidFill>
                <a:latin typeface="+mj-ea"/>
                <a:ea typeface="+mj-ea"/>
              </a:rPr>
              <a:t>2008.8.3</a:t>
            </a:r>
            <a:endParaRPr lang="zh-CN" altLang="en-US" sz="1600" b="0" i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12100" y="4693285"/>
            <a:ext cx="114935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chemeClr val="bg1"/>
                </a:solidFill>
                <a:latin typeface="+mj-ea"/>
                <a:ea typeface="+mj-ea"/>
              </a:rPr>
              <a:t>2008.9.28</a:t>
            </a:r>
            <a:endParaRPr lang="zh-CN" altLang="en-US" sz="1600" b="0" i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 flipV="1">
            <a:off x="10720705" y="5083765"/>
            <a:ext cx="0" cy="360000"/>
          </a:xfrm>
          <a:prstGeom prst="lin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0146030" y="4693285"/>
            <a:ext cx="114935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chemeClr val="bg1"/>
                </a:solidFill>
                <a:latin typeface="+mj-ea"/>
                <a:ea typeface="+mj-ea"/>
              </a:rPr>
              <a:t>2009.7.14</a:t>
            </a:r>
            <a:endParaRPr lang="zh-CN" altLang="en-US" sz="1600" b="0" i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27125" y="5497195"/>
            <a:ext cx="4718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fail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491865" y="5497195"/>
            <a:ext cx="4718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fail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472555" y="5497195"/>
            <a:ext cx="4718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fail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998460" y="5497195"/>
            <a:ext cx="9772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accent1">
                    <a:lumMod val="40000"/>
                    <a:lumOff val="60000"/>
                  </a:schemeClr>
                </a:solidFill>
              </a:rPr>
              <a:t>succeed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0231755" y="5497195"/>
            <a:ext cx="9772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accent1">
                    <a:lumMod val="40000"/>
                    <a:lumOff val="60000"/>
                  </a:schemeClr>
                </a:solidFill>
              </a:rPr>
              <a:t>succeed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38200" y="6048375"/>
            <a:ext cx="4551680" cy="339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After many failures, Falcon 1 finally succeeded</a:t>
            </a:r>
            <a:r>
              <a:rPr lang="en-US" altLang="zh-CN">
                <a:solidFill>
                  <a:schemeClr val="bg1"/>
                </a:solidFill>
              </a:rPr>
              <a:t>.</a:t>
            </a:r>
          </a:p>
          <a:p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27125" y="1941829"/>
            <a:ext cx="257746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4000" dirty="0">
                <a:solidFill>
                  <a:schemeClr val="bg1"/>
                </a:solidFill>
                <a:ea typeface="Calibri" panose="020F0502020204030204"/>
              </a:rPr>
              <a:t>Disruptive</a:t>
            </a:r>
            <a:endParaRPr lang="en-US" altLang="zh-CN" sz="1600" dirty="0"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156706" y="2584817"/>
            <a:ext cx="15517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4000" dirty="0">
                <a:solidFill>
                  <a:schemeClr val="bg1"/>
                </a:solidFill>
                <a:ea typeface="Calibri" panose="020F0502020204030204"/>
              </a:rPr>
              <a:t>guts</a:t>
            </a:r>
            <a:endParaRPr lang="en-US" altLang="zh-CN" sz="1600" dirty="0"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271991" y="3478427"/>
            <a:ext cx="286258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4000" dirty="0">
                <a:solidFill>
                  <a:schemeClr val="bg1"/>
                </a:solidFill>
                <a:ea typeface="Calibri" panose="020F0502020204030204"/>
              </a:rPr>
              <a:t>sweat blood</a:t>
            </a:r>
            <a:endParaRPr lang="en-US" altLang="zh-CN" sz="1600" dirty="0">
              <a:latin typeface="Calibri" panose="020F0502020204030204"/>
              <a:ea typeface="Calibri" panose="020F0502020204030204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2" grpId="0"/>
      <p:bldP spid="22" grpId="1"/>
      <p:bldP spid="26" grpId="0"/>
      <p:bldP spid="2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5184140"/>
            <a:ext cx="12191365" cy="1673860"/>
          </a:xfrm>
          <a:prstGeom prst="rect">
            <a:avLst/>
          </a:prstGeom>
          <a:gradFill>
            <a:gsLst>
              <a:gs pos="100000">
                <a:schemeClr val="tx1"/>
              </a:gs>
              <a:gs pos="3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00680" y="5076190"/>
            <a:ext cx="6390005" cy="942975"/>
          </a:xfrm>
          <a:effectLst>
            <a:glow rad="139700">
              <a:schemeClr val="tx1">
                <a:alpha val="40000"/>
              </a:schemeClr>
            </a:glow>
          </a:effectLst>
        </p:spPr>
        <p:txBody>
          <a:bodyPr>
            <a:noAutofit/>
          </a:bodyPr>
          <a:lstStyle/>
          <a:p>
            <a:r>
              <a:rPr lang="en-US" altLang="zh-CN" sz="8800" dirty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present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1365" cy="167386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present 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Falcon 9</a:t>
            </a:r>
            <a:endParaRPr lang="en-US" altLang="zh-CN" sz="3600" dirty="0">
              <a:solidFill>
                <a:schemeClr val="bg1">
                  <a:lumMod val="65000"/>
                </a:schemeClr>
              </a:solidFill>
              <a:latin typeface="Azonix" charset="0"/>
              <a:ea typeface="微软雅黑 Light" panose="020B0502040204020203" charset="-122"/>
              <a:cs typeface="Azonix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Falcon 9 is a reusable rocket by SpaceX, known for its cost-efficient and reliable launches of satellites and space missions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1711" y="4271948"/>
            <a:ext cx="27057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</a:rPr>
              <a:t>recyclable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66577" y="4271948"/>
            <a:ext cx="34588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</a:rPr>
              <a:t>High efficiency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135669" y="4271948"/>
            <a:ext cx="34588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</a:rPr>
              <a:t>Cheap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present 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Falcon 9</a:t>
            </a:r>
            <a:endParaRPr lang="zh-CN" altLang="en-US" sz="3600" dirty="0">
              <a:solidFill>
                <a:schemeClr val="bg1">
                  <a:lumMod val="65000"/>
                </a:schemeClr>
              </a:solidFill>
              <a:effectLst>
                <a:innerShdw blurRad="114300">
                  <a:prstClr val="black"/>
                </a:inn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2753" y="1690688"/>
            <a:ext cx="10411047" cy="499619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The Falcon 9 is one of the cheapest rockets in the world</a:t>
            </a:r>
            <a:r>
              <a:rPr lang="en-US" altLang="zh-CN" dirty="0">
                <a:solidFill>
                  <a:schemeClr val="bg1"/>
                </a:solidFill>
              </a:rPr>
              <a:t>.</a:t>
            </a:r>
          </a:p>
        </p:txBody>
      </p:sp>
      <p:graphicFrame>
        <p:nvGraphicFramePr>
          <p:cNvPr id="9" name="图表 8"/>
          <p:cNvGraphicFramePr/>
          <p:nvPr>
            <p:extLst>
              <p:ext uri="{D42A27DB-BD31-4B8C-83A1-F6EECF244321}">
                <p14:modId xmlns:p14="http://schemas.microsoft.com/office/powerpoint/2010/main" val="2307218270"/>
              </p:ext>
            </p:extLst>
          </p:nvPr>
        </p:nvGraphicFramePr>
        <p:xfrm>
          <a:off x="2098964" y="2472393"/>
          <a:ext cx="8347364" cy="4198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3" name="直接连接符 12"/>
          <p:cNvCxnSpPr/>
          <p:nvPr/>
        </p:nvCxnSpPr>
        <p:spPr>
          <a:xfrm>
            <a:off x="-76200" y="5978236"/>
            <a:ext cx="1234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9712036" y="5562601"/>
            <a:ext cx="637309" cy="415635"/>
          </a:xfrm>
          <a:prstGeom prst="rect">
            <a:avLst/>
          </a:prstGeom>
          <a:gradFill>
            <a:gsLst>
              <a:gs pos="100000">
                <a:schemeClr val="accent3">
                  <a:lumMod val="75000"/>
                </a:schemeClr>
              </a:gs>
              <a:gs pos="34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712036" y="5193268"/>
            <a:ext cx="65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2720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601200" y="6139933"/>
            <a:ext cx="98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Falcon-9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81481E-6 L -0.07747 4.81481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8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Graphic spid="9" grpId="1">
        <p:bldAsOne/>
      </p:bldGraphic>
      <p:bldP spid="17" grpId="0" animBg="1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AE5A7-1759-8EF2-AC2B-46F95F3A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36">
            <a:extLst>
              <a:ext uri="{FF2B5EF4-FFF2-40B4-BE49-F238E27FC236}">
                <a16:creationId xmlns:a16="http://schemas.microsoft.com/office/drawing/2014/main" id="{27DDCCE6-5FB4-E37A-6E63-1BE3C2BCE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9770" y="6065747"/>
            <a:ext cx="63730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92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AE4D188-43A0-5962-BD7C-CA45A02FC66E}"/>
              </a:ext>
            </a:extLst>
          </p:cNvPr>
          <p:cNvSpPr/>
          <p:nvPr/>
        </p:nvSpPr>
        <p:spPr>
          <a:xfrm>
            <a:off x="9782608" y="6373524"/>
            <a:ext cx="637309" cy="4764751"/>
          </a:xfrm>
          <a:prstGeom prst="rect">
            <a:avLst/>
          </a:prstGeom>
          <a:gradFill>
            <a:gsLst>
              <a:gs pos="100000">
                <a:schemeClr val="accent3">
                  <a:lumMod val="75000"/>
                </a:schemeClr>
              </a:gs>
              <a:gs pos="34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9054140-B4C0-5D7A-3CC6-AAA7E8B96D19}"/>
              </a:ext>
            </a:extLst>
          </p:cNvPr>
          <p:cNvSpPr/>
          <p:nvPr/>
        </p:nvSpPr>
        <p:spPr>
          <a:xfrm>
            <a:off x="-1" y="5982556"/>
            <a:ext cx="12178665" cy="8928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F0C63E64-4090-6641-B9C7-AD70C0A7B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66" y="5310945"/>
            <a:ext cx="635000" cy="668338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3000">
                <a:schemeClr val="bg1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0FA0B4D3-F863-3D2B-412F-C4BC1C00C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540" y="5155116"/>
            <a:ext cx="635000" cy="817563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3000">
                <a:schemeClr val="bg1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Rectangle 30">
            <a:extLst>
              <a:ext uri="{FF2B5EF4-FFF2-40B4-BE49-F238E27FC236}">
                <a16:creationId xmlns:a16="http://schemas.microsoft.com/office/drawing/2014/main" id="{4A6625A1-8FB3-FFA3-DCDC-84A7D7977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508" y="3601748"/>
            <a:ext cx="635000" cy="2376488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3000">
                <a:schemeClr val="bg1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CE9FD12E-E4F0-B5F1-BAE9-490A43250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1476" y="3316540"/>
            <a:ext cx="635000" cy="2674938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3000">
                <a:schemeClr val="bg1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DAA3F58-4C7E-2AF5-94AE-613F4BF2EAF9}"/>
              </a:ext>
            </a:extLst>
          </p:cNvPr>
          <p:cNvSpPr/>
          <p:nvPr/>
        </p:nvSpPr>
        <p:spPr>
          <a:xfrm>
            <a:off x="13337" y="5995393"/>
            <a:ext cx="12178664" cy="8928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FD8F071-E0A1-B462-A5BC-E7AE22C77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present 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Falcon 9</a:t>
            </a:r>
            <a:endParaRPr lang="zh-CN" alt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256968-1AEB-D86A-C334-FFAC3EF8A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0257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The Falcon 9 is the most efficient rocket in the world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CB5C563-EFDF-E852-54C6-BEC1F083D46C}"/>
              </a:ext>
            </a:extLst>
          </p:cNvPr>
          <p:cNvCxnSpPr/>
          <p:nvPr/>
        </p:nvCxnSpPr>
        <p:spPr>
          <a:xfrm>
            <a:off x="-76200" y="5978236"/>
            <a:ext cx="1234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3">
            <a:extLst>
              <a:ext uri="{FF2B5EF4-FFF2-40B4-BE49-F238E27FC236}">
                <a16:creationId xmlns:a16="http://schemas.microsoft.com/office/drawing/2014/main" id="{8A3A7B3B-1DCD-E89F-6D06-EF790702B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533" y="4942681"/>
            <a:ext cx="261938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9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34">
            <a:extLst>
              <a:ext uri="{FF2B5EF4-FFF2-40B4-BE49-F238E27FC236}">
                <a16:creationId xmlns:a16="http://schemas.microsoft.com/office/drawing/2014/main" id="{1ABFE7D3-29FC-0E8E-920C-7B654E82B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9858" y="4791868"/>
            <a:ext cx="388938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11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5">
            <a:extLst>
              <a:ext uri="{FF2B5EF4-FFF2-40B4-BE49-F238E27FC236}">
                <a16:creationId xmlns:a16="http://schemas.microsoft.com/office/drawing/2014/main" id="{32E2FE28-DA61-479F-0F00-185DB3E5A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958" y="3218908"/>
            <a:ext cx="4079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32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36">
            <a:extLst>
              <a:ext uri="{FF2B5EF4-FFF2-40B4-BE49-F238E27FC236}">
                <a16:creationId xmlns:a16="http://schemas.microsoft.com/office/drawing/2014/main" id="{62833E9A-F2D0-7EAB-7CAA-DEA569DB5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1138" y="2926556"/>
            <a:ext cx="4095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36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38">
            <a:extLst>
              <a:ext uri="{FF2B5EF4-FFF2-40B4-BE49-F238E27FC236}">
                <a16:creationId xmlns:a16="http://schemas.microsoft.com/office/drawing/2014/main" id="{F74D758C-965C-75CF-2751-DA30BD4CA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942" y="6186827"/>
            <a:ext cx="203676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Electronic number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39">
            <a:extLst>
              <a:ext uri="{FF2B5EF4-FFF2-40B4-BE49-F238E27FC236}">
                <a16:creationId xmlns:a16="http://schemas.microsoft.com/office/drawing/2014/main" id="{7B73BCCE-8609-64B0-9A32-EEDE05761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8030" y="6186827"/>
            <a:ext cx="1044575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CZ series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40">
            <a:extLst>
              <a:ext uri="{FF2B5EF4-FFF2-40B4-BE49-F238E27FC236}">
                <a16:creationId xmlns:a16="http://schemas.microsoft.com/office/drawing/2014/main" id="{7BEEC9BC-6E53-CA1A-8CAC-DC99DAA79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7626" y="6183818"/>
            <a:ext cx="7366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Other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D6825AA0-F08E-A226-821A-A92955805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308" y="2555080"/>
            <a:ext cx="35607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Number of rocket launches in 2024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37">
            <a:extLst>
              <a:ext uri="{FF2B5EF4-FFF2-40B4-BE49-F238E27FC236}">
                <a16:creationId xmlns:a16="http://schemas.microsoft.com/office/drawing/2014/main" id="{1737E2C1-5081-B5FD-1BDC-7644A67C7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995" y="6183818"/>
            <a:ext cx="7350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Soyuz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78415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C8C27-44F4-9438-03F1-932620690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FF43331-7512-50FB-7999-1E7B1E659FF4}"/>
              </a:ext>
            </a:extLst>
          </p:cNvPr>
          <p:cNvSpPr/>
          <p:nvPr/>
        </p:nvSpPr>
        <p:spPr>
          <a:xfrm>
            <a:off x="9748097" y="1211393"/>
            <a:ext cx="637309" cy="4764751"/>
          </a:xfrm>
          <a:prstGeom prst="rect">
            <a:avLst/>
          </a:prstGeom>
          <a:gradFill>
            <a:gsLst>
              <a:gs pos="100000">
                <a:schemeClr val="accent3">
                  <a:lumMod val="75000"/>
                </a:schemeClr>
              </a:gs>
              <a:gs pos="34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1A6B960-1AF1-7834-A126-4727C3620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4331" y="5824537"/>
            <a:ext cx="635000" cy="668338"/>
          </a:xfrm>
          <a:prstGeom prst="rect">
            <a:avLst/>
          </a:prstGeom>
          <a:gradFill flip="none" rotWithShape="1">
            <a:gsLst>
              <a:gs pos="41000">
                <a:srgbClr val="FFFFFF">
                  <a:shade val="300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B2CC5F35-3882-B188-55D9-A9CACB810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442" y="5745668"/>
            <a:ext cx="635000" cy="817563"/>
          </a:xfrm>
          <a:prstGeom prst="rect">
            <a:avLst/>
          </a:prstGeom>
          <a:gradFill flip="none" rotWithShape="1">
            <a:gsLst>
              <a:gs pos="46000">
                <a:srgbClr val="FFFFFF">
                  <a:shade val="300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Rectangle 30">
            <a:extLst>
              <a:ext uri="{FF2B5EF4-FFF2-40B4-BE49-F238E27FC236}">
                <a16:creationId xmlns:a16="http://schemas.microsoft.com/office/drawing/2014/main" id="{227AC1A8-BD5F-5CC0-6DC1-426DF7691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7956" y="4753956"/>
            <a:ext cx="635000" cy="2376488"/>
          </a:xfrm>
          <a:prstGeom prst="rect">
            <a:avLst/>
          </a:prstGeom>
          <a:gradFill flip="none" rotWithShape="1">
            <a:gsLst>
              <a:gs pos="44000">
                <a:srgbClr val="FFFFFF">
                  <a:shade val="300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E3A25F0D-8DD4-C323-6AFD-0DA1D7F34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228" y="4487068"/>
            <a:ext cx="635000" cy="2674938"/>
          </a:xfrm>
          <a:prstGeom prst="rect">
            <a:avLst/>
          </a:prstGeom>
          <a:gradFill flip="none" rotWithShape="1">
            <a:gsLst>
              <a:gs pos="40000">
                <a:srgbClr val="FFFFFF">
                  <a:shade val="300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F18F5AE-85E7-EFB5-BE67-67A90263C034}"/>
              </a:ext>
            </a:extLst>
          </p:cNvPr>
          <p:cNvSpPr/>
          <p:nvPr/>
        </p:nvSpPr>
        <p:spPr>
          <a:xfrm>
            <a:off x="0" y="5980329"/>
            <a:ext cx="12178665" cy="13331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52AD2F2-1C5C-6EA4-87AF-D83AE85C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present 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Falcon 9</a:t>
            </a:r>
            <a:endParaRPr lang="zh-CN" alt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770F06-CC9B-C7D1-8282-2D9670644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0257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The Falcon 9 is the most efficient rocket in the world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9" name="Rectangle 33">
            <a:extLst>
              <a:ext uri="{FF2B5EF4-FFF2-40B4-BE49-F238E27FC236}">
                <a16:creationId xmlns:a16="http://schemas.microsoft.com/office/drawing/2014/main" id="{FD2F6E4D-D0F2-C174-A224-BFB47100C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759" y="5442891"/>
            <a:ext cx="261938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9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34">
            <a:extLst>
              <a:ext uri="{FF2B5EF4-FFF2-40B4-BE49-F238E27FC236}">
                <a16:creationId xmlns:a16="http://schemas.microsoft.com/office/drawing/2014/main" id="{31A658B8-AC45-5F05-DFFC-2DEA1322F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5773" y="5362112"/>
            <a:ext cx="388938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11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5">
            <a:extLst>
              <a:ext uri="{FF2B5EF4-FFF2-40B4-BE49-F238E27FC236}">
                <a16:creationId xmlns:a16="http://schemas.microsoft.com/office/drawing/2014/main" id="{536F192F-8E97-9F81-8519-70EF9BD80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705" y="4343526"/>
            <a:ext cx="4079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32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36">
            <a:extLst>
              <a:ext uri="{FF2B5EF4-FFF2-40B4-BE49-F238E27FC236}">
                <a16:creationId xmlns:a16="http://schemas.microsoft.com/office/drawing/2014/main" id="{535DF0DF-3C90-0514-836D-726A63ADC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0050" y="4074079"/>
            <a:ext cx="4095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36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38">
            <a:extLst>
              <a:ext uri="{FF2B5EF4-FFF2-40B4-BE49-F238E27FC236}">
                <a16:creationId xmlns:a16="http://schemas.microsoft.com/office/drawing/2014/main" id="{F5362E02-8366-AAF0-2DEA-5F94B0C03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954" y="6183817"/>
            <a:ext cx="203676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Electronic number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39">
            <a:extLst>
              <a:ext uri="{FF2B5EF4-FFF2-40B4-BE49-F238E27FC236}">
                <a16:creationId xmlns:a16="http://schemas.microsoft.com/office/drawing/2014/main" id="{D03DB5D1-6005-5B9A-589D-011014D28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168" y="6154449"/>
            <a:ext cx="1044575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CZ series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40">
            <a:extLst>
              <a:ext uri="{FF2B5EF4-FFF2-40B4-BE49-F238E27FC236}">
                <a16:creationId xmlns:a16="http://schemas.microsoft.com/office/drawing/2014/main" id="{22F35DBF-C255-0EB5-73A7-5B2AE09CA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6479" y="6117933"/>
            <a:ext cx="7366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Other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DA4D30C6-203B-FECD-1FD8-A669EBC16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308" y="2555080"/>
            <a:ext cx="35607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Number of rocket launches in 2024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37">
            <a:extLst>
              <a:ext uri="{FF2B5EF4-FFF2-40B4-BE49-F238E27FC236}">
                <a16:creationId xmlns:a16="http://schemas.microsoft.com/office/drawing/2014/main" id="{7BF989F8-A975-81A2-BE85-69C07E14F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988" y="6191686"/>
            <a:ext cx="7350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Soyuz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6">
            <a:extLst>
              <a:ext uri="{FF2B5EF4-FFF2-40B4-BE49-F238E27FC236}">
                <a16:creationId xmlns:a16="http://schemas.microsoft.com/office/drawing/2014/main" id="{D4B98C8C-C8B3-4B08-5120-C418AC8D3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8097" y="836147"/>
            <a:ext cx="63730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92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94B1A8-76CA-F977-96D0-839F87C0EFBF}"/>
              </a:ext>
            </a:extLst>
          </p:cNvPr>
          <p:cNvSpPr txBox="1"/>
          <p:nvPr/>
        </p:nvSpPr>
        <p:spPr>
          <a:xfrm>
            <a:off x="9587713" y="6059590"/>
            <a:ext cx="98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Falcon-9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C0CF6CE-D8AC-BE9F-E56F-6D7A78F51154}"/>
              </a:ext>
            </a:extLst>
          </p:cNvPr>
          <p:cNvCxnSpPr/>
          <p:nvPr/>
        </p:nvCxnSpPr>
        <p:spPr>
          <a:xfrm>
            <a:off x="-76200" y="5978236"/>
            <a:ext cx="1234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870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1"/>
            </a:gs>
            <a:gs pos="3000">
              <a:schemeClr val="tx1">
                <a:alpha val="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8次复用！SpaceX猎鹰9号火箭再创新纪录--快科技--科技改变未来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83" b="12791"/>
          <a:stretch>
            <a:fillRect/>
          </a:stretch>
        </p:blipFill>
        <p:spPr bwMode="auto">
          <a:xfrm>
            <a:off x="0" y="0"/>
            <a:ext cx="122631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/>
          <p:cNvSpPr/>
          <p:nvPr/>
        </p:nvSpPr>
        <p:spPr>
          <a:xfrm>
            <a:off x="0" y="5184140"/>
            <a:ext cx="12191365" cy="1673860"/>
          </a:xfrm>
          <a:prstGeom prst="rect">
            <a:avLst/>
          </a:prstGeom>
          <a:gradFill>
            <a:gsLst>
              <a:gs pos="100000">
                <a:schemeClr val="tx1"/>
              </a:gs>
              <a:gs pos="3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35" y="0"/>
            <a:ext cx="12191365" cy="167386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present 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Falcon 9</a:t>
            </a:r>
            <a:endParaRPr lang="zh-CN" altLang="en-US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2195100"/>
              </p:ext>
            </p:extLst>
          </p:nvPr>
        </p:nvGraphicFramePr>
        <p:xfrm>
          <a:off x="0" y="1389186"/>
          <a:ext cx="12192000" cy="54688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386840" y="2958921"/>
            <a:ext cx="1869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others</a:t>
            </a:r>
            <a:endParaRPr lang="zh-CN" altLang="en-US" sz="3600" b="1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7482840" y="5389086"/>
            <a:ext cx="538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Falcon9  </a:t>
            </a:r>
          </a:p>
          <a:p>
            <a:r>
              <a:rPr lang="en-US" altLang="zh-CN" sz="3600" b="1" dirty="0">
                <a:solidFill>
                  <a:schemeClr val="bg1"/>
                </a:solidFill>
              </a:rPr>
              <a:t>More than 70 percent</a:t>
            </a:r>
            <a:endParaRPr lang="zh-CN" altLang="en-US" sz="3600" b="1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category"/>
        </p:bldSub>
      </p:bldGraphic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342" y="1520342"/>
            <a:ext cx="5337658" cy="5337658"/>
          </a:xfrm>
          <a:effectLst>
            <a:softEdge rad="0"/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present 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Merlin 1d</a:t>
            </a:r>
            <a:endParaRPr lang="zh-CN" altLang="en-US" sz="3600" dirty="0">
              <a:solidFill>
                <a:schemeClr val="bg1">
                  <a:lumMod val="65000"/>
                </a:schemeClr>
              </a:solidFill>
              <a:effectLst>
                <a:innerShdw blurRad="114300">
                  <a:prstClr val="black"/>
                </a:innerShdw>
              </a:effectLst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4B8A865-3AF5-424A-0283-F899E89EA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157490"/>
              </p:ext>
            </p:extLst>
          </p:nvPr>
        </p:nvGraphicFramePr>
        <p:xfrm>
          <a:off x="838199" y="1865134"/>
          <a:ext cx="5508099" cy="4012740"/>
        </p:xfrm>
        <a:graphic>
          <a:graphicData uri="http://schemas.openxmlformats.org/drawingml/2006/table">
            <a:tbl>
              <a:tblPr/>
              <a:tblGrid>
                <a:gridCol w="2425272">
                  <a:extLst>
                    <a:ext uri="{9D8B030D-6E8A-4147-A177-3AD203B41FA5}">
                      <a16:colId xmlns:a16="http://schemas.microsoft.com/office/drawing/2014/main" val="3566814166"/>
                    </a:ext>
                  </a:extLst>
                </a:gridCol>
                <a:gridCol w="3082827">
                  <a:extLst>
                    <a:ext uri="{9D8B030D-6E8A-4147-A177-3AD203B41FA5}">
                      <a16:colId xmlns:a16="http://schemas.microsoft.com/office/drawing/2014/main" val="3819565880"/>
                    </a:ext>
                  </a:extLst>
                </a:gridCol>
              </a:tblGrid>
              <a:tr h="80254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dirty="0">
                          <a:solidFill>
                            <a:schemeClr val="bg1"/>
                          </a:solidFill>
                          <a:effectLst/>
                        </a:rPr>
                        <a:t>推力（真空）</a:t>
                      </a:r>
                    </a:p>
                  </a:txBody>
                  <a:tcPr marL="47817" marR="47817" marT="47817" marB="478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934.1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</a:rPr>
                        <a:t>Kn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         （</a:t>
                      </a:r>
                      <a:r>
                        <a:rPr lang="zh-CN" altLang="en-US" sz="2000" dirty="0">
                          <a:solidFill>
                            <a:schemeClr val="bg1"/>
                          </a:solidFill>
                          <a:effectLst/>
                        </a:rPr>
                        <a:t>梅林</a:t>
                      </a:r>
                      <a:r>
                        <a:rPr lang="en-US" altLang="zh-CN" sz="20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DV+）</a:t>
                      </a:r>
                    </a:p>
                  </a:txBody>
                  <a:tcPr marL="47817" marR="47817" marT="47817" marB="478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620649"/>
                  </a:ext>
                </a:extLst>
              </a:tr>
              <a:tr h="80254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>
                          <a:solidFill>
                            <a:schemeClr val="bg1"/>
                          </a:solidFill>
                          <a:effectLst/>
                        </a:rPr>
                        <a:t>推力（海平面）</a:t>
                      </a:r>
                    </a:p>
                  </a:txBody>
                  <a:tcPr marL="47817" marR="47817" marT="47817" marB="4781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903.0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</a:rPr>
                        <a:t>kN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         （</a:t>
                      </a:r>
                      <a:r>
                        <a:rPr lang="zh-CN" altLang="en-US" sz="2000" dirty="0">
                          <a:solidFill>
                            <a:schemeClr val="bg1"/>
                          </a:solidFill>
                          <a:effectLst/>
                        </a:rPr>
                        <a:t>梅林</a:t>
                      </a:r>
                      <a:r>
                        <a:rPr lang="en-US" altLang="zh-CN" sz="20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D++）</a:t>
                      </a:r>
                    </a:p>
                  </a:txBody>
                  <a:tcPr marL="47817" marR="47817" marT="47817" marB="4781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91090"/>
                  </a:ext>
                </a:extLst>
              </a:tr>
              <a:tr h="80254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>
                          <a:solidFill>
                            <a:schemeClr val="bg1"/>
                          </a:solidFill>
                          <a:effectLst/>
                        </a:rPr>
                        <a:t>比冲（真空）</a:t>
                      </a:r>
                    </a:p>
                  </a:txBody>
                  <a:tcPr marL="47817" marR="47817" marT="47817" marB="4781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348 s</a:t>
                      </a:r>
                    </a:p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         （</a:t>
                      </a:r>
                      <a:r>
                        <a:rPr lang="zh-CN" altLang="en-US" sz="2000" dirty="0">
                          <a:solidFill>
                            <a:schemeClr val="bg1"/>
                          </a:solidFill>
                          <a:effectLst/>
                        </a:rPr>
                        <a:t>梅林</a:t>
                      </a:r>
                      <a:r>
                        <a:rPr lang="en-US" altLang="zh-CN" sz="20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DV+）</a:t>
                      </a:r>
                    </a:p>
                  </a:txBody>
                  <a:tcPr marL="47817" marR="47817" marT="47817" marB="4781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584701"/>
                  </a:ext>
                </a:extLst>
              </a:tr>
              <a:tr h="80254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>
                          <a:solidFill>
                            <a:schemeClr val="bg1"/>
                          </a:solidFill>
                          <a:effectLst/>
                        </a:rPr>
                        <a:t>比冲（海平面）</a:t>
                      </a:r>
                    </a:p>
                  </a:txBody>
                  <a:tcPr marL="47817" marR="47817" marT="47817" marB="4781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290 s</a:t>
                      </a:r>
                    </a:p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         （</a:t>
                      </a:r>
                      <a:r>
                        <a:rPr lang="zh-CN" altLang="en-US" sz="2000" dirty="0">
                          <a:solidFill>
                            <a:schemeClr val="bg1"/>
                          </a:solidFill>
                          <a:effectLst/>
                        </a:rPr>
                        <a:t>梅林</a:t>
                      </a:r>
                      <a:r>
                        <a:rPr lang="en-US" altLang="zh-CN" sz="20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D++）</a:t>
                      </a:r>
                    </a:p>
                  </a:txBody>
                  <a:tcPr marL="47817" marR="47817" marT="47817" marB="4781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273712"/>
                  </a:ext>
                </a:extLst>
              </a:tr>
              <a:tr h="80254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>
                          <a:solidFill>
                            <a:schemeClr val="bg1"/>
                          </a:solidFill>
                          <a:effectLst/>
                        </a:rPr>
                        <a:t>燃烧室压力</a:t>
                      </a:r>
                    </a:p>
                  </a:txBody>
                  <a:tcPr marL="47817" marR="47817" marT="47817" marB="4781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10.8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</a:rPr>
                        <a:t>Mpa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         （</a:t>
                      </a:r>
                      <a:r>
                        <a:rPr lang="zh-CN" altLang="en-US" sz="2000" dirty="0">
                          <a:solidFill>
                            <a:schemeClr val="bg1"/>
                          </a:solidFill>
                          <a:effectLst/>
                        </a:rPr>
                        <a:t>梅林</a:t>
                      </a:r>
                      <a:r>
                        <a:rPr lang="en-US" altLang="zh-CN" sz="20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D+）</a:t>
                      </a:r>
                    </a:p>
                  </a:txBody>
                  <a:tcPr marL="47817" marR="47817" marT="47817" marB="4781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41109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5184140"/>
            <a:ext cx="12191365" cy="1673860"/>
          </a:xfrm>
          <a:prstGeom prst="rect">
            <a:avLst/>
          </a:prstGeom>
          <a:gradFill>
            <a:gsLst>
              <a:gs pos="100000">
                <a:schemeClr val="tx1"/>
              </a:gs>
              <a:gs pos="3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35" y="0"/>
            <a:ext cx="12191365" cy="167386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609344" y="5184140"/>
            <a:ext cx="9875520" cy="942975"/>
          </a:xfrm>
          <a:effectLst>
            <a:glow rad="139700">
              <a:schemeClr val="tx1">
                <a:alpha val="40000"/>
              </a:schemeClr>
            </a:glow>
          </a:effectLst>
        </p:spPr>
        <p:txBody>
          <a:bodyPr>
            <a:noAutofit/>
          </a:bodyPr>
          <a:lstStyle/>
          <a:p>
            <a:r>
              <a:rPr lang="en-US" altLang="zh-CN" sz="8800" dirty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Heavy Falcon</a:t>
            </a:r>
          </a:p>
        </p:txBody>
      </p:sp>
      <p:pic>
        <p:nvPicPr>
          <p:cNvPr id="2" name="内容占位符 4">
            <a:extLst>
              <a:ext uri="{FF2B5EF4-FFF2-40B4-BE49-F238E27FC236}">
                <a16:creationId xmlns:a16="http://schemas.microsoft.com/office/drawing/2014/main" id="{80CB9CD3-F3AF-6D85-7F15-C622E8CAD1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brightnessContrast brigh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1"/>
            <a:ext cx="5337658" cy="6858000"/>
          </a:xfrm>
          <a:effectLst>
            <a:softEdge rad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64947-CFED-55A2-A777-BAEE9D5B4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36">
            <a:extLst>
              <a:ext uri="{FF2B5EF4-FFF2-40B4-BE49-F238E27FC236}">
                <a16:creationId xmlns:a16="http://schemas.microsoft.com/office/drawing/2014/main" id="{218355A9-74E0-045B-7DB6-F614CFC65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1966" y="6012294"/>
            <a:ext cx="7790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130000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30">
            <a:extLst>
              <a:ext uri="{FF2B5EF4-FFF2-40B4-BE49-F238E27FC236}">
                <a16:creationId xmlns:a16="http://schemas.microsoft.com/office/drawing/2014/main" id="{C1ADCF28-F4E4-C871-AD5D-F115CDC34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8785" y="3535640"/>
            <a:ext cx="635000" cy="2459625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3000">
                <a:schemeClr val="bg1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3C707129-015D-CB20-4292-30E2A5FF9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932" y="3646720"/>
            <a:ext cx="635000" cy="2365574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3000">
                <a:schemeClr val="bg1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8555DD24-ACA0-82A4-AE3E-20DF72C3D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787" y="3957526"/>
            <a:ext cx="635000" cy="2021757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3000">
                <a:schemeClr val="bg1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F08AEE25-F713-39A0-4F08-AB552F7D7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996" y="6320070"/>
            <a:ext cx="635000" cy="4764745"/>
          </a:xfrm>
          <a:prstGeom prst="rect">
            <a:avLst/>
          </a:prstGeom>
          <a:gradFill>
            <a:gsLst>
              <a:gs pos="100000">
                <a:schemeClr val="accent3">
                  <a:lumMod val="75000"/>
                </a:schemeClr>
              </a:gs>
              <a:gs pos="3000">
                <a:schemeClr val="accent3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52" name="Rectangle 36">
            <a:extLst>
              <a:ext uri="{FF2B5EF4-FFF2-40B4-BE49-F238E27FC236}">
                <a16:creationId xmlns:a16="http://schemas.microsoft.com/office/drawing/2014/main" id="{D996DB6B-0514-D84A-C437-4576412D6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1954" y="6012294"/>
            <a:ext cx="9204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63200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61ACD3A-CA58-54EF-B4D1-E336BC7C1734}"/>
              </a:ext>
            </a:extLst>
          </p:cNvPr>
          <p:cNvSpPr/>
          <p:nvPr/>
        </p:nvSpPr>
        <p:spPr>
          <a:xfrm>
            <a:off x="8354665" y="6323529"/>
            <a:ext cx="635000" cy="4357172"/>
          </a:xfrm>
          <a:prstGeom prst="rect">
            <a:avLst/>
          </a:prstGeom>
          <a:gradFill>
            <a:gsLst>
              <a:gs pos="100000">
                <a:srgbClr val="7030A0"/>
              </a:gs>
              <a:gs pos="2000">
                <a:schemeClr val="accent6">
                  <a:lumMod val="75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0138A9B-B173-E659-6C9E-A97A38E3C566}"/>
              </a:ext>
            </a:extLst>
          </p:cNvPr>
          <p:cNvSpPr/>
          <p:nvPr/>
        </p:nvSpPr>
        <p:spPr>
          <a:xfrm>
            <a:off x="13335" y="5978236"/>
            <a:ext cx="12178665" cy="8928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8A1D55B-27B6-6016-ABE4-4117EFA5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present 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Heavy Falcon</a:t>
            </a:r>
            <a:endParaRPr lang="zh-CN" alt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9626B7-7874-C37B-F420-05F45DDBA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0257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The Falcon Heavy is the cheapest heavy rocket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F6FB1DD-82CB-E58D-3AE6-7C400530E881}"/>
              </a:ext>
            </a:extLst>
          </p:cNvPr>
          <p:cNvCxnSpPr/>
          <p:nvPr/>
        </p:nvCxnSpPr>
        <p:spPr>
          <a:xfrm>
            <a:off x="-76200" y="5978236"/>
            <a:ext cx="1234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3">
            <a:extLst>
              <a:ext uri="{FF2B5EF4-FFF2-40B4-BE49-F238E27FC236}">
                <a16:creationId xmlns:a16="http://schemas.microsoft.com/office/drawing/2014/main" id="{51B965E1-6F7F-C604-5C11-2238D9EC8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787" y="3526685"/>
            <a:ext cx="6492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23038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34">
            <a:extLst>
              <a:ext uri="{FF2B5EF4-FFF2-40B4-BE49-F238E27FC236}">
                <a16:creationId xmlns:a16="http://schemas.microsoft.com/office/drawing/2014/main" id="{CCE2AA07-8217-3E9A-CA68-263FCFD98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15" y="3260270"/>
            <a:ext cx="6492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25778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5">
            <a:extLst>
              <a:ext uri="{FF2B5EF4-FFF2-40B4-BE49-F238E27FC236}">
                <a16:creationId xmlns:a16="http://schemas.microsoft.com/office/drawing/2014/main" id="{6F832E57-5252-3190-DB95-11068D89F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8785" y="3157381"/>
            <a:ext cx="6492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25784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38">
            <a:extLst>
              <a:ext uri="{FF2B5EF4-FFF2-40B4-BE49-F238E27FC236}">
                <a16:creationId xmlns:a16="http://schemas.microsoft.com/office/drawing/2014/main" id="{C9C15555-4E87-1222-6C5F-8601CD73F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5521" y="6169640"/>
            <a:ext cx="8038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Angara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39">
            <a:extLst>
              <a:ext uri="{FF2B5EF4-FFF2-40B4-BE49-F238E27FC236}">
                <a16:creationId xmlns:a16="http://schemas.microsoft.com/office/drawing/2014/main" id="{0F475485-D85B-9BA0-528D-08F9E2788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052" y="6132896"/>
            <a:ext cx="8672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Ariana 5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2C8ECEBD-56A5-ABAB-3879-7C3463076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982" y="2393813"/>
            <a:ext cx="12477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LEO capacity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37">
            <a:extLst>
              <a:ext uri="{FF2B5EF4-FFF2-40B4-BE49-F238E27FC236}">
                <a16:creationId xmlns:a16="http://schemas.microsoft.com/office/drawing/2014/main" id="{288B694F-D964-57A4-6A80-2FF5CD08C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381" y="6132896"/>
            <a:ext cx="525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CZ-5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954B9C2-970A-CBBD-8E24-EA8A71CE41B4}"/>
              </a:ext>
            </a:extLst>
          </p:cNvPr>
          <p:cNvCxnSpPr>
            <a:cxnSpLocks/>
          </p:cNvCxnSpPr>
          <p:nvPr/>
        </p:nvCxnSpPr>
        <p:spPr>
          <a:xfrm>
            <a:off x="2221508" y="5978236"/>
            <a:ext cx="21767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C0E1B4C-79C1-CCEE-7B7E-BF77B7FE8A02}"/>
              </a:ext>
            </a:extLst>
          </p:cNvPr>
          <p:cNvCxnSpPr>
            <a:cxnSpLocks/>
          </p:cNvCxnSpPr>
          <p:nvPr/>
        </p:nvCxnSpPr>
        <p:spPr>
          <a:xfrm>
            <a:off x="4391136" y="5978728"/>
            <a:ext cx="2112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11D130E-237C-F1AD-33E9-2784E71F0FFB}"/>
              </a:ext>
            </a:extLst>
          </p:cNvPr>
          <p:cNvCxnSpPr>
            <a:cxnSpLocks/>
          </p:cNvCxnSpPr>
          <p:nvPr/>
        </p:nvCxnSpPr>
        <p:spPr>
          <a:xfrm>
            <a:off x="6503549" y="5978236"/>
            <a:ext cx="20173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77DE11C-FE33-CE6D-72EA-4444CC25E7C1}"/>
              </a:ext>
            </a:extLst>
          </p:cNvPr>
          <p:cNvCxnSpPr>
            <a:cxnSpLocks/>
          </p:cNvCxnSpPr>
          <p:nvPr/>
        </p:nvCxnSpPr>
        <p:spPr>
          <a:xfrm>
            <a:off x="8520872" y="5978236"/>
            <a:ext cx="20173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21112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58EDD-0B2B-8999-4CB2-03DDFEE9F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33">
            <a:extLst>
              <a:ext uri="{FF2B5EF4-FFF2-40B4-BE49-F238E27FC236}">
                <a16:creationId xmlns:a16="http://schemas.microsoft.com/office/drawing/2014/main" id="{913A6124-F375-5BC7-5C48-14586A56E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2209" y="5984994"/>
            <a:ext cx="5193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9500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30">
            <a:extLst>
              <a:ext uri="{FF2B5EF4-FFF2-40B4-BE49-F238E27FC236}">
                <a16:creationId xmlns:a16="http://schemas.microsoft.com/office/drawing/2014/main" id="{672A5A0A-1243-2A79-96A9-3E5180DA4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7661" y="5342299"/>
            <a:ext cx="635000" cy="2459625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3000">
                <a:schemeClr val="bg1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C9C942DE-42A5-F2CE-3389-3CC1C4B30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36" y="5389325"/>
            <a:ext cx="635000" cy="2365574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3000">
                <a:schemeClr val="bg1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738C362D-537F-8EE5-CAF6-4F2798B78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117" y="5481996"/>
            <a:ext cx="635000" cy="2021757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3000">
                <a:schemeClr val="bg1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93A71D4A-35B2-AAB0-B930-18176E4CC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995" y="730102"/>
            <a:ext cx="635000" cy="5282192"/>
          </a:xfrm>
          <a:prstGeom prst="rect">
            <a:avLst/>
          </a:prstGeom>
          <a:gradFill>
            <a:gsLst>
              <a:gs pos="100000">
                <a:schemeClr val="accent3">
                  <a:lumMod val="75000"/>
                </a:schemeClr>
              </a:gs>
              <a:gs pos="3000">
                <a:schemeClr val="accent3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52" name="Rectangle 36">
            <a:extLst>
              <a:ext uri="{FF2B5EF4-FFF2-40B4-BE49-F238E27FC236}">
                <a16:creationId xmlns:a16="http://schemas.microsoft.com/office/drawing/2014/main" id="{B11B351F-9B72-A469-088C-35604ADD1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0661" y="3448448"/>
            <a:ext cx="9204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63200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687679B-5503-0907-62AE-62FB4B8C698F}"/>
              </a:ext>
            </a:extLst>
          </p:cNvPr>
          <p:cNvSpPr/>
          <p:nvPr/>
        </p:nvSpPr>
        <p:spPr>
          <a:xfrm>
            <a:off x="8203372" y="3808036"/>
            <a:ext cx="635000" cy="2153171"/>
          </a:xfrm>
          <a:prstGeom prst="rect">
            <a:avLst/>
          </a:prstGeom>
          <a:gradFill>
            <a:gsLst>
              <a:gs pos="100000">
                <a:srgbClr val="7030A0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C137EBF-9203-E958-8040-B60B6DF56483}"/>
              </a:ext>
            </a:extLst>
          </p:cNvPr>
          <p:cNvSpPr/>
          <p:nvPr/>
        </p:nvSpPr>
        <p:spPr>
          <a:xfrm>
            <a:off x="85529" y="5982882"/>
            <a:ext cx="12178665" cy="8928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A9AC827-724C-FC6C-270D-ECEAA8E5E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present 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Heavy Falcon</a:t>
            </a:r>
            <a:endParaRPr lang="zh-CN" alt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0A234B-3284-60CA-96AC-645CC599A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0257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The Falcon Heavy is the cheapest heavy rocket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9A01FF3-A64C-C1D4-E10C-1C9A7C4DB725}"/>
              </a:ext>
            </a:extLst>
          </p:cNvPr>
          <p:cNvCxnSpPr/>
          <p:nvPr/>
        </p:nvCxnSpPr>
        <p:spPr>
          <a:xfrm>
            <a:off x="-76200" y="5978236"/>
            <a:ext cx="1234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3">
            <a:extLst>
              <a:ext uri="{FF2B5EF4-FFF2-40B4-BE49-F238E27FC236}">
                <a16:creationId xmlns:a16="http://schemas.microsoft.com/office/drawing/2014/main" id="{B03D0FAE-2EEA-B1C2-8A99-DADF0C0DC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6900" y="5081548"/>
            <a:ext cx="6492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23038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34">
            <a:extLst>
              <a:ext uri="{FF2B5EF4-FFF2-40B4-BE49-F238E27FC236}">
                <a16:creationId xmlns:a16="http://schemas.microsoft.com/office/drawing/2014/main" id="{AE73142B-92EF-0C94-770A-FA85FA422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36" y="5031630"/>
            <a:ext cx="6492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25778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5">
            <a:extLst>
              <a:ext uri="{FF2B5EF4-FFF2-40B4-BE49-F238E27FC236}">
                <a16:creationId xmlns:a16="http://schemas.microsoft.com/office/drawing/2014/main" id="{329B77F7-5277-BDBE-87B4-51A4A9B48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444" y="4972516"/>
            <a:ext cx="6492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25784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36">
            <a:extLst>
              <a:ext uri="{FF2B5EF4-FFF2-40B4-BE49-F238E27FC236}">
                <a16:creationId xmlns:a16="http://schemas.microsoft.com/office/drawing/2014/main" id="{728A5616-921C-DA87-4B77-D56A6B7FA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1965" y="406842"/>
            <a:ext cx="7790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130000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38">
            <a:extLst>
              <a:ext uri="{FF2B5EF4-FFF2-40B4-BE49-F238E27FC236}">
                <a16:creationId xmlns:a16="http://schemas.microsoft.com/office/drawing/2014/main" id="{299FC7D2-3D75-DEF7-5CD0-7EA1ADDAD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8302" y="6185098"/>
            <a:ext cx="8038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Angara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39">
            <a:extLst>
              <a:ext uri="{FF2B5EF4-FFF2-40B4-BE49-F238E27FC236}">
                <a16:creationId xmlns:a16="http://schemas.microsoft.com/office/drawing/2014/main" id="{05AF6D1A-E4D7-87FB-80EB-CA058B31B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548" y="6185098"/>
            <a:ext cx="8672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Ariana 5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39D1E711-196B-EE44-4F53-DA86F3B18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982" y="2393813"/>
            <a:ext cx="12477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LEO capacity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37">
            <a:extLst>
              <a:ext uri="{FF2B5EF4-FFF2-40B4-BE49-F238E27FC236}">
                <a16:creationId xmlns:a16="http://schemas.microsoft.com/office/drawing/2014/main" id="{DBD5BF2D-8B58-39F2-E4B9-4FC84A671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358" y="6185097"/>
            <a:ext cx="525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CZ-5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41E189-FBF2-575A-A407-3258F9B20378}"/>
              </a:ext>
            </a:extLst>
          </p:cNvPr>
          <p:cNvSpPr txBox="1"/>
          <p:nvPr/>
        </p:nvSpPr>
        <p:spPr>
          <a:xfrm>
            <a:off x="8203372" y="6185098"/>
            <a:ext cx="93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Rectangle 39">
            <a:extLst>
              <a:ext uri="{FF2B5EF4-FFF2-40B4-BE49-F238E27FC236}">
                <a16:creationId xmlns:a16="http://schemas.microsoft.com/office/drawing/2014/main" id="{1118C936-9169-B9BE-025C-CE2672F3A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6646" y="6185097"/>
            <a:ext cx="13684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Falcon Heavy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9">
            <a:extLst>
              <a:ext uri="{FF2B5EF4-FFF2-40B4-BE49-F238E27FC236}">
                <a16:creationId xmlns:a16="http://schemas.microsoft.com/office/drawing/2014/main" id="{AB939EF7-A511-BE13-43DD-2B6E7D99F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3485" y="6174883"/>
            <a:ext cx="4360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SLS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7A7B0F6-67A8-9AEC-E8A1-6C6CFAB296E4}"/>
              </a:ext>
            </a:extLst>
          </p:cNvPr>
          <p:cNvCxnSpPr>
            <a:cxnSpLocks/>
          </p:cNvCxnSpPr>
          <p:nvPr/>
        </p:nvCxnSpPr>
        <p:spPr>
          <a:xfrm>
            <a:off x="2221508" y="5978236"/>
            <a:ext cx="21767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46F1D21-0535-67B7-00F5-B69787E84E99}"/>
              </a:ext>
            </a:extLst>
          </p:cNvPr>
          <p:cNvCxnSpPr>
            <a:cxnSpLocks/>
          </p:cNvCxnSpPr>
          <p:nvPr/>
        </p:nvCxnSpPr>
        <p:spPr>
          <a:xfrm>
            <a:off x="4391136" y="5978728"/>
            <a:ext cx="2112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EE4E50-D58F-34B0-E510-D384B8D8F0DE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503549" y="5978236"/>
            <a:ext cx="2038347" cy="675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069B275-A106-65C6-4B5C-74AD9D82FB94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8541896" y="5978236"/>
            <a:ext cx="1996299" cy="675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547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26F65-FF21-D8FB-0B48-CCDD058F8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0">
            <a:extLst>
              <a:ext uri="{FF2B5EF4-FFF2-40B4-BE49-F238E27FC236}">
                <a16:creationId xmlns:a16="http://schemas.microsoft.com/office/drawing/2014/main" id="{0F87926D-7927-FD26-8FBE-538743F0E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6023" y="5260187"/>
            <a:ext cx="635000" cy="2459625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3000">
                <a:schemeClr val="bg1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D676E37D-D55A-978E-2ABA-8AD67FBC3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32" y="5355302"/>
            <a:ext cx="635000" cy="2365574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3000">
                <a:schemeClr val="bg1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D56AC540-8269-1E52-BCB6-FEF3F64BB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117" y="5481996"/>
            <a:ext cx="635000" cy="2021757"/>
          </a:xfrm>
          <a:prstGeom prst="rect">
            <a:avLst/>
          </a:prstGeom>
          <a:gradFill>
            <a:gsLst>
              <a:gs pos="100000">
                <a:schemeClr val="bg1">
                  <a:lumMod val="65000"/>
                </a:schemeClr>
              </a:gs>
              <a:gs pos="3000">
                <a:schemeClr val="bg1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BBE2E2B9-3BAC-A5FA-C9BC-4F3BF4175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2083" y="685212"/>
            <a:ext cx="635000" cy="5282192"/>
          </a:xfrm>
          <a:prstGeom prst="rect">
            <a:avLst/>
          </a:prstGeom>
          <a:gradFill>
            <a:gsLst>
              <a:gs pos="100000">
                <a:schemeClr val="accent3">
                  <a:lumMod val="75000"/>
                </a:schemeClr>
              </a:gs>
              <a:gs pos="3000">
                <a:schemeClr val="accent3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52" name="Rectangle 36">
            <a:extLst>
              <a:ext uri="{FF2B5EF4-FFF2-40B4-BE49-F238E27FC236}">
                <a16:creationId xmlns:a16="http://schemas.microsoft.com/office/drawing/2014/main" id="{2FB30ABE-D692-3BA3-5A1E-318BB12BA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298" y="3450768"/>
            <a:ext cx="9204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63200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0C9C32E-92A4-6779-8208-3EA3B31DC3D1}"/>
              </a:ext>
            </a:extLst>
          </p:cNvPr>
          <p:cNvSpPr/>
          <p:nvPr/>
        </p:nvSpPr>
        <p:spPr>
          <a:xfrm>
            <a:off x="8012427" y="3803401"/>
            <a:ext cx="635000" cy="2153171"/>
          </a:xfrm>
          <a:prstGeom prst="rect">
            <a:avLst/>
          </a:prstGeom>
          <a:gradFill>
            <a:gsLst>
              <a:gs pos="100000">
                <a:srgbClr val="7030A0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6359B6F-8DD1-3276-0C75-4B4F23B0CD96}"/>
              </a:ext>
            </a:extLst>
          </p:cNvPr>
          <p:cNvSpPr/>
          <p:nvPr/>
        </p:nvSpPr>
        <p:spPr>
          <a:xfrm>
            <a:off x="85529" y="5982882"/>
            <a:ext cx="12178665" cy="8928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ACD0933-66BB-ADDC-31BD-397629D9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zonix" charset="0"/>
                <a:ea typeface="微软雅黑 Light" panose="020B0502040204020203" charset="-122"/>
                <a:cs typeface="Azonix" charset="0"/>
                <a:sym typeface="+mn-ea"/>
              </a:rPr>
              <a:t>present </a:t>
            </a:r>
            <a:r>
              <a:rPr lang="en-US" altLang="zh-CN" sz="3600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Heavy Falcon</a:t>
            </a:r>
            <a:endParaRPr lang="zh-CN" alt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7536A6-15B2-42B6-1E5A-9571B1352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0257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The Falcon Heavy is the cheapest heavy rocket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311E1C1-0B84-ACF4-593E-885E0E2E7817}"/>
              </a:ext>
            </a:extLst>
          </p:cNvPr>
          <p:cNvCxnSpPr/>
          <p:nvPr/>
        </p:nvCxnSpPr>
        <p:spPr>
          <a:xfrm>
            <a:off x="-76200" y="5978236"/>
            <a:ext cx="1234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3">
            <a:extLst>
              <a:ext uri="{FF2B5EF4-FFF2-40B4-BE49-F238E27FC236}">
                <a16:creationId xmlns:a16="http://schemas.microsoft.com/office/drawing/2014/main" id="{6204443F-CCB0-1B29-9A7F-AF279F8DB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6900" y="5081548"/>
            <a:ext cx="6492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23038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34">
            <a:extLst>
              <a:ext uri="{FF2B5EF4-FFF2-40B4-BE49-F238E27FC236}">
                <a16:creationId xmlns:a16="http://schemas.microsoft.com/office/drawing/2014/main" id="{F456E3D0-33EF-3EA1-495B-0EF4E86CE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15" y="5022844"/>
            <a:ext cx="6492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25778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5">
            <a:extLst>
              <a:ext uri="{FF2B5EF4-FFF2-40B4-BE49-F238E27FC236}">
                <a16:creationId xmlns:a16="http://schemas.microsoft.com/office/drawing/2014/main" id="{CD3A06EA-4D14-95C4-4E08-F23520F57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2209" y="4952410"/>
            <a:ext cx="6492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25784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36">
            <a:extLst>
              <a:ext uri="{FF2B5EF4-FFF2-40B4-BE49-F238E27FC236}">
                <a16:creationId xmlns:a16="http://schemas.microsoft.com/office/drawing/2014/main" id="{9F261D71-1E30-BF27-C400-37D751698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8779" y="407229"/>
            <a:ext cx="7790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130000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38">
            <a:extLst>
              <a:ext uri="{FF2B5EF4-FFF2-40B4-BE49-F238E27FC236}">
                <a16:creationId xmlns:a16="http://schemas.microsoft.com/office/drawing/2014/main" id="{49224CA4-5A07-6B2D-1A04-E17419C18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20" y="6193507"/>
            <a:ext cx="8038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Angara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39">
            <a:extLst>
              <a:ext uri="{FF2B5EF4-FFF2-40B4-BE49-F238E27FC236}">
                <a16:creationId xmlns:a16="http://schemas.microsoft.com/office/drawing/2014/main" id="{DF6D6ED1-46CB-3CEC-F07D-97D49C703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6195" y="6179170"/>
            <a:ext cx="8672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Ariana 5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E99C18D7-A86B-3C59-D934-DC449C12F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982" y="2393813"/>
            <a:ext cx="12477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LEO capacity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37">
            <a:extLst>
              <a:ext uri="{FF2B5EF4-FFF2-40B4-BE49-F238E27FC236}">
                <a16:creationId xmlns:a16="http://schemas.microsoft.com/office/drawing/2014/main" id="{971E68DC-476B-3815-49F2-950F07C6A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358" y="6185097"/>
            <a:ext cx="525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CZ-5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CA32B7-7F4D-F94D-4F36-4BF8223B15E8}"/>
              </a:ext>
            </a:extLst>
          </p:cNvPr>
          <p:cNvSpPr txBox="1"/>
          <p:nvPr/>
        </p:nvSpPr>
        <p:spPr>
          <a:xfrm>
            <a:off x="8203372" y="6185098"/>
            <a:ext cx="93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Rectangle 39">
            <a:extLst>
              <a:ext uri="{FF2B5EF4-FFF2-40B4-BE49-F238E27FC236}">
                <a16:creationId xmlns:a16="http://schemas.microsoft.com/office/drawing/2014/main" id="{E3FB57CB-C3CD-6C6D-FEE9-8B2435695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3042" y="6190828"/>
            <a:ext cx="13684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Falcon Heavy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9">
            <a:extLst>
              <a:ext uri="{FF2B5EF4-FFF2-40B4-BE49-F238E27FC236}">
                <a16:creationId xmlns:a16="http://schemas.microsoft.com/office/drawing/2014/main" id="{0E1EF268-1A6E-D10A-3057-61089558E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0299" y="6217110"/>
            <a:ext cx="4360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SLS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E0F3DA3-510F-1C22-6230-A495622418A9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6232464" y="4603624"/>
            <a:ext cx="2097463" cy="6318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EF83177-CE50-65D1-A1B0-B2A913524199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8329927" y="2236811"/>
            <a:ext cx="1890221" cy="29986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33">
            <a:extLst>
              <a:ext uri="{FF2B5EF4-FFF2-40B4-BE49-F238E27FC236}">
                <a16:creationId xmlns:a16="http://schemas.microsoft.com/office/drawing/2014/main" id="{3690A964-54DF-2C72-B93C-EA8C4351F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6900" y="4432497"/>
            <a:ext cx="6492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18200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3">
            <a:extLst>
              <a:ext uri="{FF2B5EF4-FFF2-40B4-BE49-F238E27FC236}">
                <a16:creationId xmlns:a16="http://schemas.microsoft.com/office/drawing/2014/main" id="{02316DD6-0CC5-E40F-D672-A9BF94C92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1422" y="4509931"/>
            <a:ext cx="6492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11600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33">
            <a:extLst>
              <a:ext uri="{FF2B5EF4-FFF2-40B4-BE49-F238E27FC236}">
                <a16:creationId xmlns:a16="http://schemas.microsoft.com/office/drawing/2014/main" id="{E57DA39E-8658-1179-3CEF-B48BA7EC7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782" y="4222377"/>
            <a:ext cx="6492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26300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33">
            <a:extLst>
              <a:ext uri="{FF2B5EF4-FFF2-40B4-BE49-F238E27FC236}">
                <a16:creationId xmlns:a16="http://schemas.microsoft.com/office/drawing/2014/main" id="{D7CF4497-A623-1D4C-3E5C-08E81450A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0240" y="5235436"/>
            <a:ext cx="5193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rgbClr val="FFFFFF"/>
                </a:solidFill>
                <a:latin typeface="Calibri" panose="020F0502020204030204" pitchFamily="34" charset="0"/>
              </a:rPr>
              <a:t>9500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3">
            <a:extLst>
              <a:ext uri="{FF2B5EF4-FFF2-40B4-BE49-F238E27FC236}">
                <a16:creationId xmlns:a16="http://schemas.microsoft.com/office/drawing/2014/main" id="{6A6AFC7A-0C47-DAF2-7550-F6AF3AC8C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3357" y="1904546"/>
            <a:ext cx="11181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</a:rPr>
              <a:t>&gt;100000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9DF2B60-BF4E-A9E7-6321-858EBAC69AE8}"/>
              </a:ext>
            </a:extLst>
          </p:cNvPr>
          <p:cNvSpPr txBox="1"/>
          <p:nvPr/>
        </p:nvSpPr>
        <p:spPr>
          <a:xfrm>
            <a:off x="9868110" y="3397366"/>
            <a:ext cx="19868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Too expensive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DFCC73D3-428C-7EC5-93E0-80978E6DDDB1}"/>
              </a:ext>
            </a:extLst>
          </p:cNvPr>
          <p:cNvCxnSpPr>
            <a:cxnSpLocks/>
          </p:cNvCxnSpPr>
          <p:nvPr/>
        </p:nvCxnSpPr>
        <p:spPr>
          <a:xfrm flipV="1">
            <a:off x="4248924" y="4603624"/>
            <a:ext cx="1983540" cy="4192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D4216970-584E-553C-B503-3191577BF255}"/>
              </a:ext>
            </a:extLst>
          </p:cNvPr>
          <p:cNvCxnSpPr>
            <a:cxnSpLocks/>
          </p:cNvCxnSpPr>
          <p:nvPr/>
        </p:nvCxnSpPr>
        <p:spPr>
          <a:xfrm>
            <a:off x="2098158" y="4802672"/>
            <a:ext cx="2150766" cy="2201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Rectangle 41">
            <a:extLst>
              <a:ext uri="{FF2B5EF4-FFF2-40B4-BE49-F238E27FC236}">
                <a16:creationId xmlns:a16="http://schemas.microsoft.com/office/drawing/2014/main" id="{D9967DDD-94F8-9312-5B0A-ED2749077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982" y="2793077"/>
            <a:ext cx="49212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Price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15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1096E0A-B16A-A1DC-7104-E204D8B99D15}"/>
              </a:ext>
            </a:extLst>
          </p:cNvPr>
          <p:cNvSpPr/>
          <p:nvPr/>
        </p:nvSpPr>
        <p:spPr>
          <a:xfrm>
            <a:off x="0" y="-1"/>
            <a:ext cx="12191365" cy="6858001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882" y="859151"/>
            <a:ext cx="10515600" cy="177273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altLang="zh-CN" sz="3600" dirty="0">
                <a:solidFill>
                  <a:schemeClr val="bg1"/>
                </a:solidFill>
                <a:effectLst>
                  <a:innerShdw blurRad="114300">
                    <a:prstClr val="black"/>
                  </a:innerShdw>
                </a:effectLst>
                <a:latin typeface="+mn-ea"/>
              </a:rPr>
              <a:t>27 Merlin engines in parallel </a:t>
            </a:r>
          </a:p>
          <a:p>
            <a:pPr marL="0" indent="0" algn="ctr">
              <a:buNone/>
            </a:pPr>
            <a:r>
              <a:rPr lang="en-US" altLang="zh-CN" sz="3600" dirty="0">
                <a:solidFill>
                  <a:schemeClr val="bg1"/>
                </a:solidFill>
                <a:effectLst>
                  <a:innerShdw blurRad="114300">
                    <a:prstClr val="black"/>
                  </a:innerShdw>
                </a:effectLst>
                <a:latin typeface="+mn-ea"/>
              </a:rPr>
              <a:t>for increased reliability</a:t>
            </a:r>
          </a:p>
          <a:p>
            <a:pPr marL="0" indent="0" algn="ctr">
              <a:buNone/>
            </a:pPr>
            <a:r>
              <a:rPr lang="en-US" altLang="zh-CN" sz="3600" dirty="0">
                <a:solidFill>
                  <a:schemeClr val="bg1"/>
                </a:solidFill>
                <a:effectLst>
                  <a:innerShdw blurRad="114300">
                    <a:prstClr val="black"/>
                  </a:innerShdw>
                </a:effectLst>
                <a:latin typeface="+mn-ea"/>
              </a:rPr>
              <a:t>and extreme efficiency</a:t>
            </a:r>
          </a:p>
          <a:p>
            <a:pPr marL="0" indent="0" algn="ctr">
              <a:buNone/>
            </a:pP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BB91F40-E480-8F33-5C62-38AC55085349}"/>
              </a:ext>
            </a:extLst>
          </p:cNvPr>
          <p:cNvSpPr/>
          <p:nvPr/>
        </p:nvSpPr>
        <p:spPr>
          <a:xfrm>
            <a:off x="1" y="0"/>
            <a:ext cx="12192000" cy="6967727"/>
          </a:xfrm>
          <a:prstGeom prst="rect">
            <a:avLst/>
          </a:prstGeom>
          <a:gradFill>
            <a:gsLst>
              <a:gs pos="100000">
                <a:schemeClr val="tx1"/>
              </a:gs>
              <a:gs pos="3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9E37D27-48AE-8318-F0DD-D3DF01C98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84947"/>
            <a:ext cx="10515600" cy="17727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3600" dirty="0">
                <a:solidFill>
                  <a:schemeClr val="bg1"/>
                </a:solidFill>
                <a:effectLst>
                  <a:innerShdw blurRad="114300">
                    <a:prstClr val="black"/>
                  </a:innerShdw>
                </a:effectLst>
                <a:latin typeface="+mn-ea"/>
              </a:rPr>
              <a:t>More than two-thirds </a:t>
            </a:r>
          </a:p>
          <a:p>
            <a:pPr marL="0" indent="0" algn="ctr">
              <a:buNone/>
            </a:pPr>
            <a:r>
              <a:rPr lang="en-US" altLang="zh-CN" sz="3600" dirty="0">
                <a:solidFill>
                  <a:schemeClr val="bg1"/>
                </a:solidFill>
                <a:effectLst>
                  <a:innerShdw blurRad="114300">
                    <a:prstClr val="black"/>
                  </a:innerShdw>
                </a:effectLst>
                <a:latin typeface="+mn-ea"/>
              </a:rPr>
              <a:t>of the recyclable portion is recyclable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600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35" y="5184140"/>
            <a:ext cx="12191365" cy="1673860"/>
          </a:xfrm>
          <a:prstGeom prst="rect">
            <a:avLst/>
          </a:prstGeom>
          <a:gradFill>
            <a:gsLst>
              <a:gs pos="100000">
                <a:schemeClr val="tx1"/>
              </a:gs>
              <a:gs pos="3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标题 1"/>
          <p:cNvSpPr txBox="1"/>
          <p:nvPr/>
        </p:nvSpPr>
        <p:spPr>
          <a:xfrm>
            <a:off x="3157378" y="5405375"/>
            <a:ext cx="5877243" cy="942975"/>
          </a:xfrm>
          <a:prstGeom prst="rect">
            <a:avLst/>
          </a:prstGeom>
          <a:effectLst>
            <a:glow rad="139700">
              <a:schemeClr val="tx1"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8800" dirty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future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1365" cy="167386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28F7753-DD9B-B3D2-7401-0EFF9B57D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962274" y="1851751"/>
            <a:ext cx="6962273" cy="4351338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Greater carrying capacity</a:t>
            </a:r>
          </a:p>
          <a:p>
            <a:r>
              <a:rPr lang="en-US" altLang="zh-CN" sz="4000" dirty="0">
                <a:solidFill>
                  <a:schemeClr val="bg1"/>
                </a:solidFill>
              </a:rPr>
              <a:t>Sustainable development</a:t>
            </a:r>
          </a:p>
          <a:p>
            <a:r>
              <a:rPr lang="en-US" altLang="zh-CN" sz="4000" dirty="0">
                <a:solidFill>
                  <a:schemeClr val="bg1"/>
                </a:solidFill>
              </a:rPr>
              <a:t>Lower cost</a:t>
            </a:r>
          </a:p>
          <a:p>
            <a:r>
              <a:rPr lang="en-US" altLang="zh-CN" sz="4000" dirty="0" err="1">
                <a:solidFill>
                  <a:schemeClr val="bg1"/>
                </a:solidFill>
              </a:rPr>
              <a:t>Intelligentization</a:t>
            </a:r>
            <a:endParaRPr lang="en-US" altLang="zh-CN" sz="4000" dirty="0">
              <a:solidFill>
                <a:schemeClr val="bg1"/>
              </a:solidFill>
            </a:endParaRPr>
          </a:p>
          <a:p>
            <a:r>
              <a:rPr lang="en-US" altLang="zh-CN" sz="4000" dirty="0">
                <a:solidFill>
                  <a:schemeClr val="bg1"/>
                </a:solidFill>
              </a:rPr>
              <a:t>Harmless to the environment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0D2D8F-BF6E-9528-4A2C-CE98C3926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CF123-B05D-ACFA-8ACA-0D8D2375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Future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major trend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642BF8-53C1-74AB-0EE2-4A1F636AA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1751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Greater carrying capacity</a:t>
            </a:r>
          </a:p>
          <a:p>
            <a:r>
              <a:rPr lang="en-US" altLang="zh-CN" sz="4000" dirty="0">
                <a:solidFill>
                  <a:schemeClr val="bg1"/>
                </a:solidFill>
              </a:rPr>
              <a:t>Sustainable development</a:t>
            </a:r>
          </a:p>
          <a:p>
            <a:r>
              <a:rPr lang="en-US" altLang="zh-CN" sz="4000" dirty="0">
                <a:solidFill>
                  <a:schemeClr val="bg1"/>
                </a:solidFill>
              </a:rPr>
              <a:t>Lower cost</a:t>
            </a:r>
          </a:p>
          <a:p>
            <a:r>
              <a:rPr lang="en-US" altLang="zh-CN" sz="4000" dirty="0" err="1">
                <a:solidFill>
                  <a:schemeClr val="bg1"/>
                </a:solidFill>
              </a:rPr>
              <a:t>Intelligentization</a:t>
            </a:r>
            <a:endParaRPr lang="en-US" altLang="zh-CN" sz="4000" dirty="0">
              <a:solidFill>
                <a:schemeClr val="bg1"/>
              </a:solidFill>
            </a:endParaRPr>
          </a:p>
          <a:p>
            <a:r>
              <a:rPr lang="en-US" altLang="zh-CN" sz="4000" dirty="0">
                <a:solidFill>
                  <a:schemeClr val="bg1"/>
                </a:solidFill>
              </a:rPr>
              <a:t>Harmless to the environment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197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A8A96-838D-835D-BC89-9724D0DE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C217E-5D05-28ED-4F2A-CBCF1C4C4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Future   </a:t>
            </a:r>
            <a:r>
              <a:rPr lang="en-US" altLang="zh-CN" sz="4400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starship</a:t>
            </a:r>
            <a:endParaRPr lang="zh-CN" altLang="en-US" dirty="0"/>
          </a:p>
        </p:txBody>
      </p:sp>
      <p:pic>
        <p:nvPicPr>
          <p:cNvPr id="5" name="图片 4" descr="黑暗中亮着灯的高塔&#10;&#10;中度可信度描述已自动生成">
            <a:extLst>
              <a:ext uri="{FF2B5EF4-FFF2-40B4-BE49-F238E27FC236}">
                <a16:creationId xmlns:a16="http://schemas.microsoft.com/office/drawing/2014/main" id="{965CE6F4-DAAD-2EC4-C447-12123056D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230" y="1690688"/>
            <a:ext cx="4270352" cy="758573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7E7AD2B-0902-F9C5-705C-A56D1BD70E5E}"/>
              </a:ext>
            </a:extLst>
          </p:cNvPr>
          <p:cNvSpPr txBox="1"/>
          <p:nvPr/>
        </p:nvSpPr>
        <p:spPr>
          <a:xfrm>
            <a:off x="838200" y="2209507"/>
            <a:ext cx="716506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Big Falcon Rocket  (BFR)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b="0" i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Commercial application of Starship will start in 2025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Preparation for Mars exploration from 2026 to 2030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4692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57672-BFB9-68C1-B7AD-A4EAD109A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5B13B-8AB2-F80A-C43E-EAC32240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Future   </a:t>
            </a:r>
            <a:r>
              <a:rPr lang="en-US" altLang="zh-CN" sz="4400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starship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0E3AC8-9A23-6B80-AF3A-E33929542CC8}"/>
              </a:ext>
            </a:extLst>
          </p:cNvPr>
          <p:cNvSpPr txBox="1"/>
          <p:nvPr/>
        </p:nvSpPr>
        <p:spPr>
          <a:xfrm>
            <a:off x="838200" y="1995746"/>
            <a:ext cx="783124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Super large carrying capacity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b="0" i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Fully reusable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b="0" i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Adopt stainless steel material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b="0" i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Equipped with aerodynamic control device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5" name="图片 4" descr="黑暗中亮着灯的高塔&#10;&#10;中度可信度描述已自动生成">
            <a:extLst>
              <a:ext uri="{FF2B5EF4-FFF2-40B4-BE49-F238E27FC236}">
                <a16:creationId xmlns:a16="http://schemas.microsoft.com/office/drawing/2014/main" id="{23E9D5BE-2AA0-21C8-A63D-1023AD541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812" y="-1145525"/>
            <a:ext cx="4355343" cy="773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20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B98F6-3AF0-A7C1-C548-CCC0FB315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8BCA3-5B7F-2BDF-E2CC-71FA6AD4D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Future  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cz-9</a:t>
            </a:r>
            <a:endParaRPr lang="zh-CN" altLang="en-US" dirty="0"/>
          </a:p>
        </p:txBody>
      </p:sp>
      <p:pic>
        <p:nvPicPr>
          <p:cNvPr id="4" name="图片 3" descr="图片包含 建筑, 室内, 雪, 站&#10;&#10;描述已自动生成">
            <a:extLst>
              <a:ext uri="{FF2B5EF4-FFF2-40B4-BE49-F238E27FC236}">
                <a16:creationId xmlns:a16="http://schemas.microsoft.com/office/drawing/2014/main" id="{EB5A8E16-A6F1-68FE-8D09-C68AA6F9E2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033" y="0"/>
            <a:ext cx="3248967" cy="6858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B8C167F-AE0D-4DE5-6B1B-1BF024A4BCD6}"/>
              </a:ext>
            </a:extLst>
          </p:cNvPr>
          <p:cNvSpPr txBox="1"/>
          <p:nvPr/>
        </p:nvSpPr>
        <p:spPr>
          <a:xfrm>
            <a:off x="977774" y="2399168"/>
            <a:ext cx="693495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Technological Advancements and Maturation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b="0" i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Accelerated Development Process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3249210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47263-E9A0-9EA1-15A7-8D179F51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0BA1CD-B8E4-3C42-E8A0-908B77E86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Future  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cz-9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998ED0-0572-3E88-7E65-4C640FE78648}"/>
              </a:ext>
            </a:extLst>
          </p:cNvPr>
          <p:cNvSpPr txBox="1"/>
          <p:nvPr/>
        </p:nvSpPr>
        <p:spPr>
          <a:xfrm>
            <a:off x="838200" y="1855959"/>
            <a:ext cx="701643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Superb carrying capacity</a:t>
            </a:r>
          </a:p>
          <a:p>
            <a:pPr algn="l"/>
            <a:endParaRPr lang="en-US" altLang="zh-CN" sz="2800" b="0" i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Advanced propulsion system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altLang="zh-CN" sz="2800" b="0" i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High degree of modular design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altLang="zh-CN" sz="2800" b="0" i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Possessing reusable potential</a:t>
            </a:r>
          </a:p>
          <a:p>
            <a:endParaRPr lang="zh-CN" altLang="en-US" dirty="0"/>
          </a:p>
        </p:txBody>
      </p:sp>
      <p:pic>
        <p:nvPicPr>
          <p:cNvPr id="5" name="图片 4" descr="图片包含 建筑, 室内, 雪, 站&#10;&#10;描述已自动生成">
            <a:extLst>
              <a:ext uri="{FF2B5EF4-FFF2-40B4-BE49-F238E27FC236}">
                <a16:creationId xmlns:a16="http://schemas.microsoft.com/office/drawing/2014/main" id="{08794957-CE7A-07D4-6F5A-FAD96FBAA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517" y="0"/>
            <a:ext cx="32844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22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403336-CD3B-C1F9-EE4D-B015F3A16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F6919-46C0-E767-57B0-97ADE00E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Future  </a:t>
            </a:r>
            <a:r>
              <a:rPr lang="en-US" altLang="zh-CN" sz="4400" dirty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zonix" charset="0"/>
                <a:sym typeface="+mn-ea"/>
              </a:rPr>
              <a:t>COMPARISON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97D46B93-8F09-B55B-896F-AB2D82C82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7487909"/>
              </p:ext>
            </p:extLst>
          </p:nvPr>
        </p:nvGraphicFramePr>
        <p:xfrm>
          <a:off x="838200" y="1620571"/>
          <a:ext cx="7193481" cy="4590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4C2B2F9-C8CD-3FB0-2F15-0AF67A37B355}"/>
              </a:ext>
            </a:extLst>
          </p:cNvPr>
          <p:cNvSpPr txBox="1"/>
          <p:nvPr/>
        </p:nvSpPr>
        <p:spPr>
          <a:xfrm>
            <a:off x="8492150" y="2860895"/>
            <a:ext cx="31596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In terms of recycling</a:t>
            </a:r>
          </a:p>
          <a:p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innovation and launch </a:t>
            </a:r>
          </a:p>
          <a:p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cost, Starship has more </a:t>
            </a:r>
          </a:p>
          <a:p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advantages.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水中的灯光&#10;&#10;中度可信度描述已自动生成">
            <a:extLst>
              <a:ext uri="{FF2B5EF4-FFF2-40B4-BE49-F238E27FC236}">
                <a16:creationId xmlns:a16="http://schemas.microsoft.com/office/drawing/2014/main" id="{43AFA42E-DA04-DF3C-61C8-C5D8AA8F8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5813" y="0"/>
            <a:ext cx="9530281" cy="7615401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/>
            </a:outerShdw>
            <a:softEdge rad="1219200"/>
          </a:effectLst>
        </p:spPr>
      </p:pic>
    </p:spTree>
    <p:extLst>
      <p:ext uri="{BB962C8B-B14F-4D97-AF65-F5344CB8AC3E}">
        <p14:creationId xmlns:p14="http://schemas.microsoft.com/office/powerpoint/2010/main" val="1843090545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57D19-B0D7-00C5-FDD3-F2F61649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水中的灯光&#10;&#10;中度可信度描述已自动生成">
            <a:extLst>
              <a:ext uri="{FF2B5EF4-FFF2-40B4-BE49-F238E27FC236}">
                <a16:creationId xmlns:a16="http://schemas.microsoft.com/office/drawing/2014/main" id="{C5881C40-3DE4-C1E7-94A4-F29627441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428" y="0"/>
            <a:ext cx="9530281" cy="7615401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/>
            </a:outerShdw>
            <a:softEdge rad="1219200"/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9152468-2D15-6599-9880-BFEDD8DC4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Future  </a:t>
            </a:r>
            <a:r>
              <a:rPr lang="en-US" altLang="zh-CN" sz="4400" dirty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zonix" charset="0"/>
                <a:sym typeface="+mn-ea"/>
              </a:rPr>
              <a:t>COMPARISON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116A10-6420-AA75-B99A-1F8F4EA8515B}"/>
              </a:ext>
            </a:extLst>
          </p:cNvPr>
          <p:cNvSpPr txBox="1"/>
          <p:nvPr/>
        </p:nvSpPr>
        <p:spPr>
          <a:xfrm>
            <a:off x="914400" y="2362954"/>
            <a:ext cx="92979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At present, Starship greatly reduces the launch cost by adopting the reusable mode. In this regard, it has more advantages than CZ-9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7813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B391276-E11D-35A8-F2BA-0A696286789C}"/>
              </a:ext>
            </a:extLst>
          </p:cNvPr>
          <p:cNvSpPr/>
          <p:nvPr/>
        </p:nvSpPr>
        <p:spPr>
          <a:xfrm>
            <a:off x="635" y="3224981"/>
            <a:ext cx="12191365" cy="3742747"/>
          </a:xfrm>
          <a:prstGeom prst="rect">
            <a:avLst/>
          </a:prstGeom>
          <a:gradFill>
            <a:gsLst>
              <a:gs pos="63000">
                <a:schemeClr val="tx1"/>
              </a:gs>
              <a:gs pos="3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96D806-03A0-DA6E-1CB2-DA4418D89402}"/>
              </a:ext>
            </a:extLst>
          </p:cNvPr>
          <p:cNvSpPr/>
          <p:nvPr/>
        </p:nvSpPr>
        <p:spPr>
          <a:xfrm>
            <a:off x="635" y="0"/>
            <a:ext cx="12191365" cy="167386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A548C91-A1FF-0244-6528-9DE4355324BD}"/>
              </a:ext>
            </a:extLst>
          </p:cNvPr>
          <p:cNvSpPr txBox="1"/>
          <p:nvPr/>
        </p:nvSpPr>
        <p:spPr>
          <a:xfrm>
            <a:off x="2359742" y="3935280"/>
            <a:ext cx="815094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8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39700">
                    <a:prstClr val="black">
                      <a:alpha val="40000"/>
                    </a:prstClr>
                  </a:glo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disruptive INNOVATION</a:t>
            </a:r>
            <a:endParaRPr lang="zh-CN" altLang="en-US" dirty="0"/>
          </a:p>
        </p:txBody>
      </p:sp>
      <p:pic>
        <p:nvPicPr>
          <p:cNvPr id="3" name="内容占位符 4">
            <a:extLst>
              <a:ext uri="{FF2B5EF4-FFF2-40B4-BE49-F238E27FC236}">
                <a16:creationId xmlns:a16="http://schemas.microsoft.com/office/drawing/2014/main" id="{4196530C-CB2B-42E4-2E74-2D52F3567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55232" y="1876857"/>
            <a:ext cx="2448323" cy="4351338"/>
          </a:xfrm>
          <a:effectLst>
            <a:innerShdw blurRad="990600">
              <a:prstClr val="black">
                <a:alpha val="96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055234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D9407-DE74-5272-A4BA-923603D4D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39700">
                    <a:prstClr val="black">
                      <a:alpha val="40000"/>
                    </a:prstClr>
                  </a:glo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INNOVATION</a:t>
            </a:r>
            <a:b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>
                  <a:innerShdw blurRad="114300">
                    <a:prstClr val="black"/>
                  </a:innerShd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</a:b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>
                  <a:innerShdw blurRad="114300">
                    <a:prstClr val="black"/>
                  </a:innerShd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chemical fertilizer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3093EF9-2939-F5DE-65E9-DC78EAF12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3109"/>
            <a:ext cx="2448323" cy="4351338"/>
          </a:xfrm>
          <a:effectLst>
            <a:innerShdw blurRad="990600">
              <a:prstClr val="black">
                <a:alpha val="96000"/>
              </a:prstClr>
            </a:innerShdw>
          </a:effec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D78DD28-8A54-72CE-A102-5966099C1B21}"/>
              </a:ext>
            </a:extLst>
          </p:cNvPr>
          <p:cNvSpPr txBox="1"/>
          <p:nvPr/>
        </p:nvSpPr>
        <p:spPr>
          <a:xfrm>
            <a:off x="3824968" y="2025119"/>
            <a:ext cx="674493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4000" dirty="0">
                <a:solidFill>
                  <a:schemeClr val="bg1"/>
                </a:solidFill>
              </a:rPr>
              <a:t>controllable nutrients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4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4000" dirty="0">
                <a:solidFill>
                  <a:schemeClr val="bg1"/>
                </a:solidFill>
              </a:rPr>
              <a:t>concentrated nutrients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4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4000" dirty="0">
                <a:solidFill>
                  <a:schemeClr val="bg1"/>
                </a:solidFill>
              </a:rPr>
              <a:t>high content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4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4000" dirty="0">
                <a:solidFill>
                  <a:schemeClr val="bg1"/>
                </a:solidFill>
              </a:rPr>
              <a:t>easy to use.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pic>
        <p:nvPicPr>
          <p:cNvPr id="3" name="内容占位符 14">
            <a:extLst>
              <a:ext uri="{FF2B5EF4-FFF2-40B4-BE49-F238E27FC236}">
                <a16:creationId xmlns:a16="http://schemas.microsoft.com/office/drawing/2014/main" id="{2C8B0AE7-60CD-9B32-7766-6D390A71B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7104245"/>
            <a:ext cx="15219277" cy="814825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F0F2B91-8864-573B-F693-92475FB8EE4A}"/>
              </a:ext>
            </a:extLst>
          </p:cNvPr>
          <p:cNvSpPr txBox="1"/>
          <p:nvPr/>
        </p:nvSpPr>
        <p:spPr>
          <a:xfrm>
            <a:off x="838200" y="5955115"/>
            <a:ext cx="2858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这里使用金克拉是玩梗</a:t>
            </a:r>
          </a:p>
        </p:txBody>
      </p:sp>
    </p:spTree>
    <p:extLst>
      <p:ext uri="{BB962C8B-B14F-4D97-AF65-F5344CB8AC3E}">
        <p14:creationId xmlns:p14="http://schemas.microsoft.com/office/powerpoint/2010/main" val="3996492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A8BEAA81-5326-97C9-69BE-FA404452C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36" y="-1317860"/>
            <a:ext cx="15219277" cy="8148251"/>
          </a:xfr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6E3F4FA-D27C-A2BC-AFC5-E15F465D4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66" y="31834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CN" sz="5400" dirty="0">
                <a:solidFill>
                  <a:prstClr val="white"/>
                </a:solidFill>
                <a:effectLst>
                  <a:glow rad="139700">
                    <a:prstClr val="black">
                      <a:alpha val="40000"/>
                    </a:prstClr>
                  </a:glo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INNOVATION</a:t>
            </a:r>
            <a:br>
              <a:rPr lang="en-US" altLang="zh-CN" sz="4000" dirty="0">
                <a:solidFill>
                  <a:prstClr val="white">
                    <a:lumMod val="65000"/>
                  </a:prst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</a:br>
            <a:r>
              <a:rPr lang="en-US" altLang="zh-CN" sz="4000" dirty="0">
                <a:solidFill>
                  <a:prstClr val="white">
                    <a:lumMod val="65000"/>
                  </a:prst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chemical fertilizer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ED8DE3E-C2E7-6F0B-D622-B91FB1815E15}"/>
              </a:ext>
            </a:extLst>
          </p:cNvPr>
          <p:cNvSpPr txBox="1"/>
          <p:nvPr/>
        </p:nvSpPr>
        <p:spPr>
          <a:xfrm>
            <a:off x="1882291" y="2274838"/>
            <a:ext cx="49888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</a:rPr>
              <a:t>Be coordinated with the level of economic and social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</a:endParaRPr>
          </a:p>
          <a:p>
            <a:endParaRPr lang="en-US" altLang="zh-CN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</a:rPr>
              <a:t>Adapted to the carrying capacity of resources and environment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40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AA032-6FA3-B31C-20C6-F8C63086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3FF877-E7DF-FB95-FF27-EAD4F7579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66" y="31834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CN" sz="5400" dirty="0">
                <a:solidFill>
                  <a:prstClr val="white"/>
                </a:solidFill>
                <a:effectLst>
                  <a:glow rad="139700">
                    <a:prstClr val="black">
                      <a:alpha val="40000"/>
                    </a:prstClr>
                  </a:glo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INNOVATION</a:t>
            </a:r>
            <a:br>
              <a:rPr lang="en-US" altLang="zh-CN" sz="4000" dirty="0">
                <a:solidFill>
                  <a:prstClr val="white">
                    <a:lumMod val="65000"/>
                  </a:prst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</a:br>
            <a:r>
              <a:rPr lang="en-US" altLang="zh-CN" sz="4000" dirty="0">
                <a:solidFill>
                  <a:prstClr val="white">
                    <a:lumMod val="65000"/>
                  </a:prst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chemical fertilizer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76A9CA4C-6AA3-8E0D-C530-250B19699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1640"/>
            <a:ext cx="6504871" cy="4351338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F51047F-4DB0-C451-3A7D-899CD80EA30D}"/>
              </a:ext>
            </a:extLst>
          </p:cNvPr>
          <p:cNvSpPr txBox="1"/>
          <p:nvPr/>
        </p:nvSpPr>
        <p:spPr>
          <a:xfrm>
            <a:off x="6746273" y="3146312"/>
            <a:ext cx="68626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</a:rPr>
              <a:t>Breaking restrictions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pic>
        <p:nvPicPr>
          <p:cNvPr id="3" name="内容占位符 16">
            <a:extLst>
              <a:ext uri="{FF2B5EF4-FFF2-40B4-BE49-F238E27FC236}">
                <a16:creationId xmlns:a16="http://schemas.microsoft.com/office/drawing/2014/main" id="{00F8C307-490C-0675-F797-FFB54EE52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281" y="1801640"/>
            <a:ext cx="7378879" cy="393137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E0D817D-5339-4367-440A-1F57750DEF5E}"/>
              </a:ext>
            </a:extLst>
          </p:cNvPr>
          <p:cNvSpPr txBox="1"/>
          <p:nvPr/>
        </p:nvSpPr>
        <p:spPr>
          <a:xfrm>
            <a:off x="12509696" y="1696957"/>
            <a:ext cx="292335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First in the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</a:rPr>
              <a:t> one-third of the world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</a:rPr>
              <a:t>sum of United States and India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0DE55D2E-0883-7DF2-7EA2-9BCD1A553409}"/>
              </a:ext>
            </a:extLst>
          </p:cNvPr>
          <p:cNvSpPr txBox="1">
            <a:spLocks/>
          </p:cNvSpPr>
          <p:nvPr/>
        </p:nvSpPr>
        <p:spPr bwMode="invGray">
          <a:xfrm>
            <a:off x="1096515" y="6858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bg1"/>
                </a:solidFill>
              </a:rPr>
              <a:t>Adhere to green development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089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CAACE-D7DF-2F5B-548F-17B1E9DCEF75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1080473" y="5609349"/>
            <a:ext cx="10515600" cy="1325563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Adhere to green development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6462CA-AF92-C4FB-5758-B3A2FC17382D}"/>
              </a:ext>
            </a:extLst>
          </p:cNvPr>
          <p:cNvSpPr txBox="1"/>
          <p:nvPr/>
        </p:nvSpPr>
        <p:spPr>
          <a:xfrm>
            <a:off x="8932307" y="1715894"/>
            <a:ext cx="292335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First in the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</a:rPr>
              <a:t> one-third of the world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1"/>
                </a:solidFill>
              </a:rPr>
              <a:t>sum of United States and India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B3DE38-2D29-A025-842C-9D609822A644}"/>
              </a:ext>
            </a:extLst>
          </p:cNvPr>
          <p:cNvSpPr txBox="1"/>
          <p:nvPr/>
        </p:nvSpPr>
        <p:spPr>
          <a:xfrm>
            <a:off x="524865" y="0"/>
            <a:ext cx="7163409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39700">
                    <a:prstClr val="black">
                      <a:alpha val="40000"/>
                    </a:prstClr>
                  </a:glo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INNOVATION</a:t>
            </a:r>
            <a:b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>
                  <a:innerShdw blurRad="114300">
                    <a:prstClr val="black"/>
                  </a:innerShd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</a:b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>
                  <a:innerShdw blurRad="114300">
                    <a:prstClr val="black"/>
                  </a:innerShd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chemical fertilizer</a:t>
            </a:r>
            <a:endParaRPr lang="zh-CN" altLang="en-US" dirty="0"/>
          </a:p>
        </p:txBody>
      </p:sp>
      <p:pic>
        <p:nvPicPr>
          <p:cNvPr id="17" name="内容占位符 16">
            <a:extLst>
              <a:ext uri="{FF2B5EF4-FFF2-40B4-BE49-F238E27FC236}">
                <a16:creationId xmlns:a16="http://schemas.microsoft.com/office/drawing/2014/main" id="{EC68F444-AFDB-72FB-4B69-F4FA30A5D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27" y="1538883"/>
            <a:ext cx="7378879" cy="3931370"/>
          </a:xfrm>
        </p:spPr>
      </p:pic>
    </p:spTree>
    <p:extLst>
      <p:ext uri="{BB962C8B-B14F-4D97-AF65-F5344CB8AC3E}">
        <p14:creationId xmlns:p14="http://schemas.microsoft.com/office/powerpoint/2010/main" val="2161091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C1FA402-6168-7713-9F31-A0202B189824}"/>
              </a:ext>
            </a:extLst>
          </p:cNvPr>
          <p:cNvSpPr/>
          <p:nvPr/>
        </p:nvSpPr>
        <p:spPr>
          <a:xfrm>
            <a:off x="0" y="-1"/>
            <a:ext cx="12191365" cy="2856217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643BECC-1E07-29C5-50EC-43CCDA4FA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425" y="3339003"/>
            <a:ext cx="8091529" cy="1325563"/>
          </a:xfrm>
        </p:spPr>
        <p:txBody>
          <a:bodyPr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39700">
                    <a:prstClr val="black">
                      <a:alpha val="40000"/>
                    </a:prstClr>
                  </a:glo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INNOVATION</a:t>
            </a:r>
            <a:r>
              <a:rPr lang="en-US" altLang="zh-CN" sz="4000" dirty="0">
                <a:solidFill>
                  <a:prstClr val="white">
                    <a:lumMod val="65000"/>
                  </a:prstClr>
                </a:solidFill>
                <a:effectLst>
                  <a:innerShdw blurRad="114300">
                    <a:prstClr val="black"/>
                  </a:innerShdw>
                </a:effectLst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 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>
                  <a:innerShdw blurRad="114300">
                    <a:prstClr val="black"/>
                  </a:innerShd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Smartphone</a:t>
            </a:r>
            <a:b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</a:b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DA8503-9317-F571-E974-5EED067E3964}"/>
              </a:ext>
            </a:extLst>
          </p:cNvPr>
          <p:cNvSpPr/>
          <p:nvPr/>
        </p:nvSpPr>
        <p:spPr>
          <a:xfrm>
            <a:off x="635" y="5293868"/>
            <a:ext cx="12191365" cy="1673860"/>
          </a:xfrm>
          <a:prstGeom prst="rect">
            <a:avLst/>
          </a:prstGeom>
          <a:gradFill>
            <a:gsLst>
              <a:gs pos="100000">
                <a:schemeClr val="tx1"/>
              </a:gs>
              <a:gs pos="3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内容占位符 8">
            <a:extLst>
              <a:ext uri="{FF2B5EF4-FFF2-40B4-BE49-F238E27FC236}">
                <a16:creationId xmlns:a16="http://schemas.microsoft.com/office/drawing/2014/main" id="{352D096D-7F85-3A0E-6539-AC0CF7F4F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52909" y="1850096"/>
            <a:ext cx="6502734" cy="3606985"/>
          </a:xfrm>
          <a:prstGeom prst="rect">
            <a:avLst/>
          </a:prstGeom>
          <a:effectLst>
            <a:softEdge rad="292100"/>
          </a:effectLst>
        </p:spPr>
      </p:pic>
    </p:spTree>
    <p:extLst>
      <p:ext uri="{BB962C8B-B14F-4D97-AF65-F5344CB8AC3E}">
        <p14:creationId xmlns:p14="http://schemas.microsoft.com/office/powerpoint/2010/main" val="63962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BE3D02-24DA-357F-C0DE-94529D23F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39700">
                    <a:prstClr val="black">
                      <a:alpha val="40000"/>
                    </a:prstClr>
                  </a:glo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INNOVATION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>
                  <a:innerShdw blurRad="114300">
                    <a:prstClr val="black"/>
                  </a:innerShd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 Smartphone</a:t>
            </a:r>
            <a:endParaRPr lang="zh-CN" altLang="en-US" dirty="0"/>
          </a:p>
        </p:txBody>
      </p:sp>
      <p:pic>
        <p:nvPicPr>
          <p:cNvPr id="4" name="内容占位符 8">
            <a:extLst>
              <a:ext uri="{FF2B5EF4-FFF2-40B4-BE49-F238E27FC236}">
                <a16:creationId xmlns:a16="http://schemas.microsoft.com/office/drawing/2014/main" id="{9B0F7E39-9962-02AB-F13A-59F23ABF5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7627" y="1690688"/>
            <a:ext cx="1958408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5A3AACC-7986-47D2-9706-3B60D821CA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341" y="6701234"/>
            <a:ext cx="2005407" cy="44557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D5E101D-713E-DD71-B9E6-58980D6D55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183" y="-4351338"/>
            <a:ext cx="1958408" cy="43513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51BAFA2-E030-01AB-636A-2B2EC91891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1298488"/>
            <a:ext cx="2157975" cy="5135738"/>
          </a:xfrm>
          <a:prstGeom prst="rect">
            <a:avLst/>
          </a:prstGeom>
        </p:spPr>
      </p:pic>
      <p:pic>
        <p:nvPicPr>
          <p:cNvPr id="10" name="内容占位符 8">
            <a:extLst>
              <a:ext uri="{FF2B5EF4-FFF2-40B4-BE49-F238E27FC236}">
                <a16:creationId xmlns:a16="http://schemas.microsoft.com/office/drawing/2014/main" id="{49C85C42-3F8E-F4AE-E2DC-B4DE68A055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06" y="1766286"/>
            <a:ext cx="6502734" cy="3606985"/>
          </a:xfrm>
          <a:prstGeom prst="rect">
            <a:avLst/>
          </a:prstGeom>
          <a:effectLst>
            <a:softEdge rad="292100"/>
          </a:effec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CC9ECAA-D5E4-F88E-4655-B3F36802911A}"/>
              </a:ext>
            </a:extLst>
          </p:cNvPr>
          <p:cNvSpPr txBox="1"/>
          <p:nvPr/>
        </p:nvSpPr>
        <p:spPr>
          <a:xfrm>
            <a:off x="6993883" y="1766286"/>
            <a:ext cx="530774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bg1"/>
                </a:solidFill>
              </a:rPr>
              <a:t>No </a:t>
            </a:r>
            <a:r>
              <a:rPr lang="en-US" altLang="zh-CN" sz="3200" dirty="0" err="1">
                <a:solidFill>
                  <a:schemeClr val="bg1"/>
                </a:solidFill>
              </a:rPr>
              <a:t>Phycial</a:t>
            </a:r>
            <a:r>
              <a:rPr lang="en-US" altLang="zh-CN" sz="3200" dirty="0">
                <a:solidFill>
                  <a:schemeClr val="bg1"/>
                </a:solidFill>
              </a:rPr>
              <a:t> keyboard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bg1"/>
                </a:solidFill>
              </a:rPr>
              <a:t>Multi-touch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bg1"/>
                </a:solidFill>
              </a:rPr>
              <a:t>Self-developed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bg1"/>
                </a:solidFill>
              </a:rPr>
              <a:t>Trend-setting industrial design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981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11E92-DDC6-FAE3-B093-99938AA1D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54642" cy="1325563"/>
          </a:xfrm>
        </p:spPr>
        <p:txBody>
          <a:bodyPr/>
          <a:lstStyle/>
          <a:p>
            <a:r>
              <a:rPr kumimoji="0" lang="en-US" altLang="zh-CN" sz="4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39700">
                    <a:prstClr val="black">
                      <a:alpha val="40000"/>
                    </a:prstClr>
                  </a:glo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INNOVATION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6EDC05DA-BBC6-7039-B9EC-55DDD1EDC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61" y="1690688"/>
            <a:ext cx="1958408" cy="4351338"/>
          </a:xfr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366D842-5E11-4FFD-C3C2-A7C29196B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129" y="1470270"/>
            <a:ext cx="2157975" cy="513573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8E8DE09-C489-EEE4-7285-241971186A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981" y="1810257"/>
            <a:ext cx="1958408" cy="435133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2EAFD44-5C5B-3665-FB8C-3CC6BC47EA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178" y="1810257"/>
            <a:ext cx="2005407" cy="445576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FA6B2EB-8FCA-6AF6-6FD2-93D7FE30B662}"/>
              </a:ext>
            </a:extLst>
          </p:cNvPr>
          <p:cNvSpPr txBox="1"/>
          <p:nvPr/>
        </p:nvSpPr>
        <p:spPr>
          <a:xfrm>
            <a:off x="4892842" y="643185"/>
            <a:ext cx="47324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>
                  <a:innerShdw blurRad="114300">
                    <a:prstClr val="black"/>
                  </a:innerShd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Smartphone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4069919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9A176-D6BA-1BA2-071B-330876D6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b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>
                  <a:innerShdw blurRad="114300">
                    <a:prstClr val="black"/>
                  </a:innerShd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</a:br>
            <a:b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FF5422-2CB9-2489-7ECF-6F12B4EE1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Meet the demand</a:t>
            </a:r>
          </a:p>
          <a:p>
            <a:r>
              <a:rPr lang="en-US" altLang="zh-CN" sz="3600" dirty="0">
                <a:solidFill>
                  <a:schemeClr val="bg1"/>
                </a:solidFill>
              </a:rPr>
              <a:t>Economic value</a:t>
            </a:r>
          </a:p>
          <a:p>
            <a:r>
              <a:rPr lang="en-US" altLang="zh-CN" sz="3600" dirty="0">
                <a:solidFill>
                  <a:schemeClr val="bg1"/>
                </a:solidFill>
              </a:rPr>
              <a:t>Uncertain result</a:t>
            </a:r>
          </a:p>
          <a:p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A616AC-3307-CF0E-95AB-2AFFDE0C0E2B}"/>
              </a:ext>
            </a:extLst>
          </p:cNvPr>
          <p:cNvSpPr txBox="1"/>
          <p:nvPr/>
        </p:nvSpPr>
        <p:spPr>
          <a:xfrm>
            <a:off x="4102768" y="476683"/>
            <a:ext cx="3986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39700">
                    <a:prstClr val="black">
                      <a:alpha val="40000"/>
                    </a:prstClr>
                  </a:glow>
                </a:effectLst>
                <a:uLnTx/>
                <a:uFillTx/>
                <a:latin typeface="Azonix" charset="0"/>
                <a:ea typeface="Kozuka Gothic Pr6N M" panose="020B0700000000000000" charset="-128"/>
                <a:cs typeface="Azonix" charset="0"/>
                <a:sym typeface="+mn-ea"/>
              </a:rPr>
              <a:t>summary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975289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VlYTVhZGEyYjU2YTQ2M2QyMGYxMjFjMjgwNmM1NTg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5039</TotalTime>
  <Words>634</Words>
  <Application>Microsoft Office PowerPoint</Application>
  <PresentationFormat>宽屏</PresentationFormat>
  <Paragraphs>241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微软雅黑 Light</vt:lpstr>
      <vt:lpstr>Calibri</vt:lpstr>
      <vt:lpstr>Arial</vt:lpstr>
      <vt:lpstr>微软雅黑</vt:lpstr>
      <vt:lpstr>Azonix</vt:lpstr>
      <vt:lpstr>WPS</vt:lpstr>
      <vt:lpstr>Innovate</vt:lpstr>
      <vt:lpstr>Innovate</vt:lpstr>
      <vt:lpstr>Past present and future</vt:lpstr>
      <vt:lpstr>Table of Contents</vt:lpstr>
      <vt:lpstr>past</vt:lpstr>
      <vt:lpstr>Past Falcon 1</vt:lpstr>
      <vt:lpstr>present</vt:lpstr>
      <vt:lpstr>present Falcon 9</vt:lpstr>
      <vt:lpstr>present Falcon 9</vt:lpstr>
      <vt:lpstr>present Falcon 9</vt:lpstr>
      <vt:lpstr>present Falcon 9</vt:lpstr>
      <vt:lpstr>present Falcon 9</vt:lpstr>
      <vt:lpstr>present Merlin 1d</vt:lpstr>
      <vt:lpstr>Heavy Falcon</vt:lpstr>
      <vt:lpstr>present Heavy Falcon</vt:lpstr>
      <vt:lpstr>present Heavy Falcon</vt:lpstr>
      <vt:lpstr>present Heavy Falcon</vt:lpstr>
      <vt:lpstr>PowerPoint 演示文稿</vt:lpstr>
      <vt:lpstr>PowerPoint 演示文稿</vt:lpstr>
      <vt:lpstr>PowerPoint 演示文稿</vt:lpstr>
      <vt:lpstr>Future major trend</vt:lpstr>
      <vt:lpstr>Future   starship</vt:lpstr>
      <vt:lpstr>Future   starship</vt:lpstr>
      <vt:lpstr>Future   cz-9</vt:lpstr>
      <vt:lpstr>Future   cz-9</vt:lpstr>
      <vt:lpstr>Future  COMPARISON</vt:lpstr>
      <vt:lpstr>Future  COMPARISON</vt:lpstr>
      <vt:lpstr>PowerPoint 演示文稿</vt:lpstr>
      <vt:lpstr>INNOVATION chemical fertilizer</vt:lpstr>
      <vt:lpstr>INNOVATION chemical fertilizer</vt:lpstr>
      <vt:lpstr>INNOVATION chemical fertilizer</vt:lpstr>
      <vt:lpstr>Adhere to green development</vt:lpstr>
      <vt:lpstr>INNOVATION Smartphone </vt:lpstr>
      <vt:lpstr>INNOVATION Smartphone</vt:lpstr>
      <vt:lpstr>INNOVATION</vt:lpstr>
      <vt:lpstr>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第二高级中学14班</dc:creator>
  <cp:lastModifiedBy>煜暄 陈</cp:lastModifiedBy>
  <cp:revision>33</cp:revision>
  <dcterms:created xsi:type="dcterms:W3CDTF">2023-08-09T12:44:00Z</dcterms:created>
  <dcterms:modified xsi:type="dcterms:W3CDTF">2026-05-10T07:40:43Z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19F5D6DEF5A04B0C8FED077FE877C9A5_13</vt:lpwstr>
  </property>
  <property fmtid="{D5CDD505-2E9C-101B-9397-08002B2CF9AE}" pid="3" name="KSOProductBuildVer">
    <vt:lpwstr>2052-12.1.0.18276</vt:lpwstr>
  </property>
</Properties>
</file>